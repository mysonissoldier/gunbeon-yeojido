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1d073f46f44e1" /><Relationship Type="http://schemas.openxmlformats.org/officeDocument/2006/relationships/extended-properties" Target="/docProps/app.xml" Id="R8d07882bc1ed44c2" /><Relationship Type="http://schemas.openxmlformats.org/officeDocument/2006/relationships/officeDocument" Target="/ppt/presentation.xml" Id="Rf5ef1cd7430e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eef7e92454861"/>
  </p:sldMasterIdLst>
  <p:notesMasterIdLst>
    <p:notesMasterId xmlns:r="http://schemas.openxmlformats.org/officeDocument/2006/relationships" r:id="R0cc2fd9b60d4411e"/>
  </p:notesMasterIdLst>
  <p:sldIdLst>
    <p:sldId xmlns:r="http://schemas.openxmlformats.org/officeDocument/2006/relationships" id="256" r:id="Rf27e1a091243430e"/>
    <p:sldId xmlns:r="http://schemas.openxmlformats.org/officeDocument/2006/relationships" id="257" r:id="R305f8ed880324919"/>
    <p:sldId xmlns:r="http://schemas.openxmlformats.org/officeDocument/2006/relationships" id="258" r:id="Rbd1665d40651438d"/>
    <p:sldId xmlns:r="http://schemas.openxmlformats.org/officeDocument/2006/relationships" id="259" r:id="Redabcce34fb14977"/>
    <p:sldId xmlns:r="http://schemas.openxmlformats.org/officeDocument/2006/relationships" id="260" r:id="Rb8c2ed934927468f"/>
    <p:sldId xmlns:r="http://schemas.openxmlformats.org/officeDocument/2006/relationships" id="261" r:id="R298118284873413c"/>
    <p:sldId xmlns:r="http://schemas.openxmlformats.org/officeDocument/2006/relationships" id="262" r:id="Rcee24c131aaf48d0"/>
    <p:sldId xmlns:r="http://schemas.openxmlformats.org/officeDocument/2006/relationships" id="263" r:id="R99452812c04c4916"/>
    <p:sldId xmlns:r="http://schemas.openxmlformats.org/officeDocument/2006/relationships" id="264" r:id="R88ea6f55947f4481"/>
    <p:sldId xmlns:r="http://schemas.openxmlformats.org/officeDocument/2006/relationships" id="265" r:id="Rbe5752d4fc784d15"/>
    <p:sldId xmlns:r="http://schemas.openxmlformats.org/officeDocument/2006/relationships" id="266" r:id="Rc785314ca63f48b3"/>
    <p:sldId xmlns:r="http://schemas.openxmlformats.org/officeDocument/2006/relationships" id="267" r:id="Rb75fd2317e444f3e"/>
    <p:sldId xmlns:r="http://schemas.openxmlformats.org/officeDocument/2006/relationships" id="268" r:id="Rf4f227466fd345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3079c5ed0247b8" /><Relationship Type="http://schemas.openxmlformats.org/officeDocument/2006/relationships/slideMaster" Target="/ppt/slideMasters/slideMaster1.xml" Id="Ra87eef7e92454861" /><Relationship Type="http://schemas.openxmlformats.org/officeDocument/2006/relationships/notesMaster" Target="/ppt/notesMasters/notesMaster1.xml" Id="R0cc2fd9b60d4411e" /><Relationship Type="http://schemas.openxmlformats.org/officeDocument/2006/relationships/presProps" Target="/ppt/presProps.xml" Id="R8d1c4a3fc98b42f3" /><Relationship Type="http://schemas.openxmlformats.org/officeDocument/2006/relationships/viewProps" Target="/ppt/viewProps.xml" Id="R3a2bd1d0614246af" /><Relationship Type="http://schemas.openxmlformats.org/officeDocument/2006/relationships/tableStyles" Target="/ppt/tableStyles.xml" Id="R740477af51864548" /><Relationship Type="http://schemas.openxmlformats.org/officeDocument/2006/relationships/slide" Target="/ppt/slides/slide1.xml" Id="Rf27e1a091243430e" /><Relationship Type="http://schemas.openxmlformats.org/officeDocument/2006/relationships/slide" Target="/ppt/slides/slide2.xml" Id="R305f8ed880324919" /><Relationship Type="http://schemas.openxmlformats.org/officeDocument/2006/relationships/slide" Target="/ppt/slides/slide3.xml" Id="Rbd1665d40651438d" /><Relationship Type="http://schemas.openxmlformats.org/officeDocument/2006/relationships/slide" Target="/ppt/slides/slide4.xml" Id="Redabcce34fb14977" /><Relationship Type="http://schemas.openxmlformats.org/officeDocument/2006/relationships/slide" Target="/ppt/slides/slide5.xml" Id="Rb8c2ed934927468f" /><Relationship Type="http://schemas.openxmlformats.org/officeDocument/2006/relationships/slide" Target="/ppt/slides/slide6.xml" Id="R298118284873413c" /><Relationship Type="http://schemas.openxmlformats.org/officeDocument/2006/relationships/slide" Target="/ppt/slides/slide7.xml" Id="Rcee24c131aaf48d0" /><Relationship Type="http://schemas.openxmlformats.org/officeDocument/2006/relationships/slide" Target="/ppt/slides/slide8.xml" Id="R99452812c04c4916" /><Relationship Type="http://schemas.openxmlformats.org/officeDocument/2006/relationships/slide" Target="/ppt/slides/slide9.xml" Id="R88ea6f55947f4481" /><Relationship Type="http://schemas.openxmlformats.org/officeDocument/2006/relationships/slide" Target="/ppt/slides/slide10.xml" Id="Rbe5752d4fc784d15" /><Relationship Type="http://schemas.openxmlformats.org/officeDocument/2006/relationships/slide" Target="/ppt/slides/slide11.xml" Id="Rc785314ca63f48b3" /><Relationship Type="http://schemas.openxmlformats.org/officeDocument/2006/relationships/slide" Target="/ppt/slides/slide12.xml" Id="Rb75fd2317e444f3e" /><Relationship Type="http://schemas.openxmlformats.org/officeDocument/2006/relationships/slide" Target="/ppt/slides/slide13.xml" Id="Rf4f227466fd3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3a7503f8d4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2b20cf9604334" /><Relationship Type="http://schemas.openxmlformats.org/officeDocument/2006/relationships/notesMaster" Target="/ppt/notesMasters/notesMaster1.xml" Id="R7ad710f00343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fe8e629de467e" /><Relationship Type="http://schemas.openxmlformats.org/officeDocument/2006/relationships/notesMaster" Target="/ppt/notesMasters/notesMaster1.xml" Id="R26cf63fba041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b22d3c86e2408c" /><Relationship Type="http://schemas.openxmlformats.org/officeDocument/2006/relationships/notesMaster" Target="/ppt/notesMasters/notesMaster1.xml" Id="Rbe57b3a012c7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39baff8a5a4acf" /><Relationship Type="http://schemas.openxmlformats.org/officeDocument/2006/relationships/notesMaster" Target="/ppt/notesMasters/notesMaster1.xml" Id="R5a36c59eb3ab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f588f8b66b4511" /><Relationship Type="http://schemas.openxmlformats.org/officeDocument/2006/relationships/notesMaster" Target="/ppt/notesMasters/notesMaster1.xml" Id="R2073c6d6c67144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02544e08ef4047" /><Relationship Type="http://schemas.openxmlformats.org/officeDocument/2006/relationships/notesMaster" Target="/ppt/notesMasters/notesMaster1.xml" Id="R8c00a95af3fb46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5b179abab64e4e" /><Relationship Type="http://schemas.openxmlformats.org/officeDocument/2006/relationships/notesMaster" Target="/ppt/notesMasters/notesMaster1.xml" Id="Re4d245041b35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63d0e126964766" /><Relationship Type="http://schemas.openxmlformats.org/officeDocument/2006/relationships/notesMaster" Target="/ppt/notesMasters/notesMaster1.xml" Id="Ra321757db6c94f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6398a2bce34a4e" /><Relationship Type="http://schemas.openxmlformats.org/officeDocument/2006/relationships/notesMaster" Target="/ppt/notesMasters/notesMaster1.xml" Id="Rd2e841e0e9474b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eac312aae84c91" /><Relationship Type="http://schemas.openxmlformats.org/officeDocument/2006/relationships/notesMaster" Target="/ppt/notesMasters/notesMaster1.xml" Id="R22ac8307501449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286bec0ed44ad5" /><Relationship Type="http://schemas.openxmlformats.org/officeDocument/2006/relationships/notesMaster" Target="/ppt/notesMasters/notesMaster1.xml" Id="Ra87881977aae46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33a8c92bf441e4" /><Relationship Type="http://schemas.openxmlformats.org/officeDocument/2006/relationships/notesMaster" Target="/ppt/notesMasters/notesMaster1.xml" Id="R81599495884d45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15d6fe99294f41" /><Relationship Type="http://schemas.openxmlformats.org/officeDocument/2006/relationships/notesMaster" Target="/ppt/notesMasters/notesMaster1.xml" Id="Rc3f2cbf3562e4d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관광데이터 활용 공모전 ① 웹·앱 개발 부문 1차 기능설명서. 지정 9쪽 양식을 기반으로 기능 흐름도만 5개로 확장했습니다. 대표자 심윤보.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예선 제안서와 현재 구현을 바탕으로 정리. 관광소비 증가·이용자 만족도 등 정량 성과를 측정 완료했다고 주장하지 않습니다.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5개와 이후 기능 흐름도 5쪽은 동일 순서·이름입니다. 로그인/서버 저장/장애 대응은 완성도의 근거이며 별도 핵심 기능으로 중복 계상하지 않았습니다.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이미지: 팀 제작 로고 B(다시 만나는 길). 상세 이미지: 실제 구현 화면 캡처, 합성 예시 일정. 출처: ⓒ한국관광공사; 카카오 지도; 통일부 DMZ 인근 지역 파일데이터. 개별 사진 출처/사용조건은 서비스 /#sources 및 docs/submission/2026-round1의 이미지 기록을 참조.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강원 지역 특화는 한 광역자치단체 내부의 5군 및 2관문으로 한정. 공식 Notion의 지역특화 가점 인정 범위 참고. 여행 예시는 실제 심사용 합성 일정과 대응하며 실제 방문 성과가 아닙니다. 장소 최신 확인 근거: docs/submission/2026-round1/place-verification.md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1: 관광정보로 만드는 나의 강원 일정.</a:t>
            </a:r>
          </a:p>
          <a:p xmlns:a="http://schemas.openxmlformats.org/drawingml/2006/main">
            <a:r>
              <a:t>실제 동작 근거: https://github.com/MySonIsSoldier/gunbeon-yeojido/tree/master/reports/qa</a:t>
            </a:r>
          </a:p>
          <a:p xmlns:a="http://schemas.openxmlformats.org/drawingml/2006/main">
            <a:r>
              <a:t>화면 출처: 2026-09-16 운영 서비스에서 실제 동작을 확인한 예시 여행. 로딩 중 캡처는 제외했습니다. 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2: 동행 그룹과 함께 준비하기.</a:t>
            </a:r>
          </a:p>
          <a:p xmlns:a="http://schemas.openxmlformats.org/drawingml/2006/main">
            <a:r>
              <a:t>실제 동작 근거: https://github.com/MySonIsSoldier/gunbeon-yeojido/tree/master/reports/qa</a:t>
            </a:r>
          </a:p>
          <a:p xmlns:a="http://schemas.openxmlformats.org/drawingml/2006/main">
            <a:r>
              <a:t>화면 출처: 2026-09-16 운영 서비스에서 실제 동작을 확인한 예시 여행. 로딩 중 캡처는 제외했습니다. 그룹 공동 원본과 개인 사본은 별도입니다. 개인 복귀시각·실행 기록을 자동 전송하지 않습니다.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3: 복귀 여유 비교와 조정.</a:t>
            </a:r>
          </a:p>
          <a:p xmlns:a="http://schemas.openxmlformats.org/drawingml/2006/main">
            <a:r>
              <a:t>실제 동작 근거: https://github.com/MySonIsSoldier/gunbeon-yeojido/tree/master/reports/qa</a:t>
            </a:r>
          </a:p>
          <a:p xmlns:a="http://schemas.openxmlformats.org/drawingml/2006/main">
            <a:r>
              <a:t>화면 출처: 2026-09-16 운영 서비스에서 실제 동작을 확인한 예시 여행. 로딩 중 캡처는 제외했습니다. 이동 시간은 거리 기반 추정. 실제 교통 및 소속 부대 규정은 직접 확인하며 복귀 가능성을 보장하지 않습니다.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4: 현재 출타에서 하루 여권까지.</a:t>
            </a:r>
          </a:p>
          <a:p xmlns:a="http://schemas.openxmlformats.org/drawingml/2006/main">
            <a:r>
              <a:t>실제 동작 근거: https://github.com/MySonIsSoldier/gunbeon-yeojido/tree/master/reports/qa</a:t>
            </a:r>
          </a:p>
          <a:p xmlns:a="http://schemas.openxmlformats.org/drawingml/2006/main">
            <a:r>
              <a:t>화면 출처: 2026-09-16 운영 서비스에서 실제 동작을 확인한 예시 여행. 로딩 중 캡처는 제외했습니다. 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 5: 한 수를 받아 여행에 반영하기.</a:t>
            </a:r>
          </a:p>
          <a:p xmlns:a="http://schemas.openxmlformats.org/drawingml/2006/main">
            <a:r>
              <a:t>실제 동작 근거: https://github.com/MySonIsSoldier/gunbeon-yeojido/tree/master/reports/qa</a:t>
            </a:r>
          </a:p>
          <a:p xmlns:a="http://schemas.openxmlformats.org/drawingml/2006/main">
            <a:r>
              <a:t>화면 출처: 2026-09-16 운영 서비스에서 실제 동작을 확인한 예시 여행. 로딩 중 캡처는 제외했습니다. 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서비스 오퍼레이션: KorService2/ldongCode2, areaBasedList2, searchKeyword2, detailCommon2, detailIntro2. 무장애: KorWithService2/ldongCode2, areaBasedList2, detailWithTour2. 국문 contentid/title/addr1/mapx/mapy/firstimage; 무장애 parking/route/wheelchair 등의 응답 필드를 사용합니다. detailImage2는 사용하지 않으며 firstimage로 대표 사진 표시. 2026-09-16 11:29 KST 운영 실호출: reports/qa/submission-2026-09-16/live-api.json. 113건은 이날 철원 응답값으로 상시 고정 보유량이 아닙니다. 집중률/중심/연관 API는 표본 검증만 완료하여 서비스 활용 목록에서 제외. 인증키 원문은 이 문서에 넣지 않습니다.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통일부 DMZ 인근 지역 관광·카페 파일데이터, 국가보훈부 현충시설 데이터 수집본: reports/data_validation_summary.md 및 reports/data_validation_metrics.json. 기본 원천 607건은 출처 간 중복 가능한 정규화 레코드로 고유 장소 수가 아님. 기상청 실응답: reports/qa/submission-2026-09-16/live-api.json, 8시간 200/live. 예보는 개인 위치가 아닌 시군청 대표 격자. 카카오 API 확인: reports/custom_domain_live_2026-09-15.md. 사진은 서비스 출처 및 개별 라이선스 표시를 따릅니다.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발전계획은 향후 실행 제안이며 현재 체결된 기관 협약·측정된 관광소비 증가 또는 사용자 조사 성과가 아닙니다. 공개 소스와 실행 증빙: https://github.com/MySonIsSoldier/gunbeon-yeojido . 공식 양식·참가자 안내: https://lowly-polyanthus-1fb.notion.site/2026-36b5dce406e380e0a3d1f80525667a11 .</a:t>
            </a:r>
          </a:p>
          <a:p xmlns:a="http://schemas.openxmlformats.org/drawingml/2006/main">
            <a:r>
              <a:t>실제 서비스: https://gunbeon.gangwon.kr</a:t>
            </a:r>
          </a:p>
          <a:p xmlns:a="http://schemas.openxmlformats.org/drawingml/2006/main">
            <a:r>
              <a:t>구현 기준: 운영 v19/env5 (2026-09-16 확인). 화면은 기능 확인용 합성 여행 예시이며 실제 이용자 여행 기록이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c244db1ac4e40" /><Relationship Type="http://schemas.openxmlformats.org/officeDocument/2006/relationships/image" Target="/ppt/media/image.png" Id="R304a23543fd74c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2624b05fe472a" /><Relationship Type="http://schemas.openxmlformats.org/officeDocument/2006/relationships/image" Target="/ppt/media/image2.png" Id="R3f78a128e8124c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ccc777c6d48f1" /><Relationship Type="http://schemas.openxmlformats.org/officeDocument/2006/relationships/image" Target="/ppt/media/image3.png" Id="R6d38d73eae0841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94fa89ffb44ce" /><Relationship Type="http://schemas.openxmlformats.org/officeDocument/2006/relationships/image" Target="/ppt/media/image4.png" Id="R279c67d21cdd432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10b177543409e" /><Relationship Type="http://schemas.openxmlformats.org/officeDocument/2006/relationships/image" Target="/ppt/media/image5.png" Id="R31328475c42e43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5da050d434ea7" /><Relationship Type="http://schemas.openxmlformats.org/officeDocument/2006/relationships/image" Target="/ppt/media/image6.png" Id="R163cd3d5585944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c73f0d9c54d01" /><Relationship Type="http://schemas.openxmlformats.org/officeDocument/2006/relationships/image" Target="/ppt/media/image7.png" Id="R4a7d51cc042945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d3740617d4a5a" /></Relationships>
</file>

<file path=ppt/slideLayouts/slideLayout1.xml><?xml version="1.0" encoding="utf-8"?>
<p:sldLayout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a23543fd74c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8a128e8124c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8d73eae08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4083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c67d21cdd43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8" y="18574"/>
            <a:ext cx="12165123" cy="68394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28475c42e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13811"/>
            <a:ext cx="12184175" cy="68303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cd3d558594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5" y="9047"/>
            <a:ext cx="12174649" cy="683990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d51cc042945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4284"/>
            <a:ext cx="12184175" cy="684943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8609A41E-858E-4001-9A3A-10B21E1047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5A279C7C-E06A-41EA-8237-F77D04E870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177F18EF-0677-48AB-A7EF-554CE31845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E84F8C0-CF0D-4677-BE62-182DA7BE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1715" y="256797"/>
            <a:ext cx="2419001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2026 </a:t>
            </a: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관광데이터 활용 공모전</a:t>
            </a:r>
            <a:endParaRPr sz="1400">
              <a:solidFill>
                <a:schemeClr val="bg1"/>
              </a:solidFill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A945FD3-38A5-46E8-B983-4D404D1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4929" y="256797"/>
            <a:ext cx="1327264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E7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Noto Sans KR Medium"/>
                <a:ea typeface="Noto Sans KR Medium"/>
                <a:cs typeface="Noto Sans KR Medium"/>
              </a:rPr>
              <a:t>웹〮앱 개발 부문</a:t>
            </a:r>
            <a:endParaRPr sz="1400"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81BAD74-0BFA-4F82-85E9-242F325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807" y="791993"/>
            <a:ext cx="11812386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8ae774cec480d" /><Relationship Type="http://schemas.openxmlformats.org/officeDocument/2006/relationships/slideLayout" Target="/ppt/slideLayouts/slideLayout1.xml" Id="Rdb65a3c94f60467b" /><Relationship Type="http://schemas.openxmlformats.org/officeDocument/2006/relationships/slideLayout" Target="/ppt/slideLayouts/slideLayout2.xml" Id="Refa9314009834197" /><Relationship Type="http://schemas.openxmlformats.org/officeDocument/2006/relationships/slideLayout" Target="/ppt/slideLayouts/slideLayout3.xml" Id="Ref6332a004ba4fd0" /><Relationship Type="http://schemas.openxmlformats.org/officeDocument/2006/relationships/slideLayout" Target="/ppt/slideLayouts/slideLayout4.xml" Id="R86c6766ac981440e" /><Relationship Type="http://schemas.openxmlformats.org/officeDocument/2006/relationships/slideLayout" Target="/ppt/slideLayouts/slideLayout5.xml" Id="R17e4ed3a50864724" /><Relationship Type="http://schemas.openxmlformats.org/officeDocument/2006/relationships/slideLayout" Target="/ppt/slideLayouts/slideLayout6.xml" Id="R7172eb3a5c084853" /><Relationship Type="http://schemas.openxmlformats.org/officeDocument/2006/relationships/slideLayout" Target="/ppt/slideLayouts/slideLayout7.xml" Id="Rf2e88552d917493c" /><Relationship Type="http://schemas.openxmlformats.org/officeDocument/2006/relationships/slideLayout" Target="/ppt/slideLayouts/slideLayout8.xml" Id="R62fb1820a2d3438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20F320F3-C19A-452C-9128-B5EB1884D7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3265BF9-A2C2-483F-87AD-C73CF585F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913671B4-EFCE-4285-9EEA-810E9F949C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A39D303-0749-46BF-B4C2-E5C2C0418C9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A95EA54-5436-474C-BC49-44BE488856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5a3c94f60467b"/>
    <p:sldLayoutId xmlns:r="http://schemas.openxmlformats.org/officeDocument/2006/relationships" id="2147483650" r:id="Refa9314009834197"/>
    <p:sldLayoutId xmlns:r="http://schemas.openxmlformats.org/officeDocument/2006/relationships" id="2147483651" r:id="Ref6332a004ba4fd0"/>
    <p:sldLayoutId xmlns:r="http://schemas.openxmlformats.org/officeDocument/2006/relationships" id="2147483652" r:id="R86c6766ac981440e"/>
    <p:sldLayoutId xmlns:r="http://schemas.openxmlformats.org/officeDocument/2006/relationships" id="2147483653" r:id="R17e4ed3a50864724"/>
    <p:sldLayoutId xmlns:r="http://schemas.openxmlformats.org/officeDocument/2006/relationships" id="2147483654" r:id="R7172eb3a5c084853"/>
    <p:sldLayoutId xmlns:r="http://schemas.openxmlformats.org/officeDocument/2006/relationships" id="2147483655" r:id="Rf2e88552d917493c"/>
    <p:sldLayoutId xmlns:r="http://schemas.openxmlformats.org/officeDocument/2006/relationships" id="2147483656" r:id="R62fb1820a2d3438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50dbeb4d4d64" /><Relationship Type="http://schemas.openxmlformats.org/officeDocument/2006/relationships/notesSlide" Target="/ppt/notesSlides/notesSlide1.xml" Id="R86ba9916dbd245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fb6d2f4bd84ef0" /><Relationship Type="http://schemas.openxmlformats.org/officeDocument/2006/relationships/notesSlide" Target="/ppt/notesSlides/notesSlide2.xml" Id="Re3f429166a77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13eee6dc07498b" /><Relationship Type="http://schemas.openxmlformats.org/officeDocument/2006/relationships/notesSlide" Target="/ppt/notesSlides/notesSlide3.xml" Id="R232f3e6c45b7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ac7eb3f124e18" /><Relationship Type="http://schemas.openxmlformats.org/officeDocument/2006/relationships/image" Target="/ppt/media/image8.png" Id="R4eecef2734db4f01" /><Relationship Type="http://schemas.openxmlformats.org/officeDocument/2006/relationships/image" Target="/ppt/media/image9.png" Id="Rcfa2d3a862714505" /><Relationship Type="http://schemas.openxmlformats.org/officeDocument/2006/relationships/image" Target="/ppt/media/image10.png" Id="R1dd7cc5a88714726" /><Relationship Type="http://schemas.openxmlformats.org/officeDocument/2006/relationships/image" Target="/ppt/media/image11.png" Id="Re6e58e98b1ab44d0" /><Relationship Type="http://schemas.openxmlformats.org/officeDocument/2006/relationships/image" Target="/ppt/media/image12.png" Id="Rda84b54823c14e33" /><Relationship Type="http://schemas.openxmlformats.org/officeDocument/2006/relationships/image" Target="/ppt/media/image13.png" Id="R465f32d572a54e2b" /><Relationship Type="http://schemas.openxmlformats.org/officeDocument/2006/relationships/hyperlink" Target="https://github.com/MySonIsSoldier/gunbeon-yeojido/blob/master/docs/submission/2026-round1/image-sources.md" TargetMode="External" Id="Rdd9162993b3040b3" /><Relationship Type="http://schemas.openxmlformats.org/officeDocument/2006/relationships/notesSlide" Target="/ppt/notesSlides/notesSlide4.xml" Id="R43df9abd14c347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53514324304439" /><Relationship Type="http://schemas.openxmlformats.org/officeDocument/2006/relationships/notesSlide" Target="/ppt/notesSlides/notesSlide5.xml" Id="R417dc787d42b49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8be7c365d264881" /><Relationship Type="http://schemas.openxmlformats.org/officeDocument/2006/relationships/image" Target="/ppt/media/image14.png" Id="Rc88d77a492084355" /><Relationship Type="http://schemas.openxmlformats.org/officeDocument/2006/relationships/image" Target="/ppt/media/image15.png" Id="R8d71ffe59dd34fa7" /><Relationship Type="http://schemas.openxmlformats.org/officeDocument/2006/relationships/image" Target="/ppt/media/image16.png" Id="R7c6499c00f2048c1" /><Relationship Type="http://schemas.openxmlformats.org/officeDocument/2006/relationships/image" Target="/ppt/media/image17.png" Id="Ra95c1654289944ae" /><Relationship Type="http://schemas.openxmlformats.org/officeDocument/2006/relationships/hyperlink" Target="https://github.com/MySonIsSoldier/gunbeon-yeojido/blob/master/docs/submission/2026-round1/image-sources.md" TargetMode="External" Id="R8f8781461e504f64" /><Relationship Type="http://schemas.openxmlformats.org/officeDocument/2006/relationships/notesSlide" Target="/ppt/notesSlides/notesSlide6.xml" Id="Rb26b2a152722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86334856a754a93" /><Relationship Type="http://schemas.openxmlformats.org/officeDocument/2006/relationships/image" Target="/ppt/media/image18.png" Id="R974b14dcd4004a97" /><Relationship Type="http://schemas.openxmlformats.org/officeDocument/2006/relationships/image" Target="/ppt/media/image19.png" Id="Rfc65a5d4696e41a4" /><Relationship Type="http://schemas.openxmlformats.org/officeDocument/2006/relationships/image" Target="/ppt/media/image20.png" Id="Rc34c907e0a794df7" /><Relationship Type="http://schemas.openxmlformats.org/officeDocument/2006/relationships/image" Target="/ppt/media/image21.png" Id="R754706f548a94d15" /><Relationship Type="http://schemas.openxmlformats.org/officeDocument/2006/relationships/hyperlink" Target="https://github.com/MySonIsSoldier/gunbeon-yeojido/blob/master/docs/submission/2026-round1/image-sources.md" TargetMode="External" Id="R52ece037ebb741ab" /><Relationship Type="http://schemas.openxmlformats.org/officeDocument/2006/relationships/notesSlide" Target="/ppt/notesSlides/notesSlide7.xml" Id="Rbadb801caf8641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522190e90264f78" /><Relationship Type="http://schemas.openxmlformats.org/officeDocument/2006/relationships/image" Target="/ppt/media/image22.png" Id="R4d4ceca9b27f4b35" /><Relationship Type="http://schemas.openxmlformats.org/officeDocument/2006/relationships/image" Target="/ppt/media/image23.png" Id="R5c6bff7d9ddd4814" /><Relationship Type="http://schemas.openxmlformats.org/officeDocument/2006/relationships/image" Target="/ppt/media/image24.png" Id="R07dd11a66d8a4485" /><Relationship Type="http://schemas.openxmlformats.org/officeDocument/2006/relationships/image" Target="/ppt/media/image25.png" Id="Raed191120c134b04" /><Relationship Type="http://schemas.openxmlformats.org/officeDocument/2006/relationships/hyperlink" Target="https://github.com/MySonIsSoldier/gunbeon-yeojido/blob/master/docs/submission/2026-round1/image-sources.md" TargetMode="External" Id="R94caa1963b5f4fb5" /><Relationship Type="http://schemas.openxmlformats.org/officeDocument/2006/relationships/notesSlide" Target="/ppt/notesSlides/notesSlide8.xml" Id="R24ca9870362242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133466ef28345c6" /><Relationship Type="http://schemas.openxmlformats.org/officeDocument/2006/relationships/image" Target="/ppt/media/image26.png" Id="R18dc91ca5de14197" /><Relationship Type="http://schemas.openxmlformats.org/officeDocument/2006/relationships/image" Target="/ppt/media/image27.png" Id="Rbac17ddbae844f36" /><Relationship Type="http://schemas.openxmlformats.org/officeDocument/2006/relationships/image" Target="/ppt/media/image28.png" Id="R8d0ed7baf3174c88" /><Relationship Type="http://schemas.openxmlformats.org/officeDocument/2006/relationships/image" Target="/ppt/media/image29.png" Id="R8d8516df23574962" /><Relationship Type="http://schemas.openxmlformats.org/officeDocument/2006/relationships/hyperlink" Target="https://github.com/MySonIsSoldier/gunbeon-yeojido/blob/master/docs/submission/2026-round1/image-sources.md" TargetMode="External" Id="Rc924efd1482247e2" /><Relationship Type="http://schemas.openxmlformats.org/officeDocument/2006/relationships/notesSlide" Target="/ppt/notesSlides/notesSlide9.xml" Id="Rffcc7e0b9dbb4f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4621eb165943f5" /><Relationship Type="http://schemas.openxmlformats.org/officeDocument/2006/relationships/image" Target="/ppt/media/image30.png" Id="R46026f9c98124306" /><Relationship Type="http://schemas.openxmlformats.org/officeDocument/2006/relationships/image" Target="/ppt/media/image31.png" Id="Rf5452aa85fd9469e" /><Relationship Type="http://schemas.openxmlformats.org/officeDocument/2006/relationships/image" Target="/ppt/media/image32.png" Id="R809e7bb8a49a4af5" /><Relationship Type="http://schemas.openxmlformats.org/officeDocument/2006/relationships/image" Target="/ppt/media/image33.png" Id="R7f89eeb6ff85493c" /><Relationship Type="http://schemas.openxmlformats.org/officeDocument/2006/relationships/hyperlink" Target="https://github.com/MySonIsSoldier/gunbeon-yeojido/blob/master/docs/submission/2026-round1/image-sources.md" TargetMode="External" Id="R7a30fd742c314e6e" /><Relationship Type="http://schemas.openxmlformats.org/officeDocument/2006/relationships/notesSlide" Target="/ppt/notesSlides/notesSlide10.xml" Id="R926eb0c43cb24c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16043227dc448f4" /><Relationship Type="http://schemas.openxmlformats.org/officeDocument/2006/relationships/notesSlide" Target="/ppt/notesSlides/notesSlide11.xml" Id="Rf14cb76104d945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a787a4df84baa" /><Relationship Type="http://schemas.openxmlformats.org/officeDocument/2006/relationships/notesSlide" Target="/ppt/notesSlides/notesSlide12.xml" Id="R57237004c4444d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d433cfba44436b" /><Relationship Type="http://schemas.openxmlformats.org/officeDocument/2006/relationships/notesSlide" Target="/ppt/notesSlides/notesSlide13.xml" Id="R796f2161d8274c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5"/>
          <p:cNvGraphicFramePr/>
          <p:nvPr/>
        </p:nvGraphicFramePr>
        <p:xfrm>
          <a:off xmlns:a="http://schemas.openxmlformats.org/drawingml/2006/main" x="527397" y="4563687"/>
          <a:ext xmlns:a="http://schemas.openxmlformats.org/drawingml/2006/main" cx="6712988" cy="111221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/>
                <a:gridCol w="4821419"/>
              </a:tblGrid>
              <a:tr h="547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팀 명</a:t>
                      </a:r>
                      <a:endParaRPr sz="24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우리아들이군인인데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여행계획을준비했대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FDE7"/>
                    </a:solidFill>
                  </a:tcPr>
                </a:tc>
              </a:tr>
              <a:tr h="56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명</a:t>
                      </a:r>
                      <a:endParaRPr sz="24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군번여지도 강원: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휴전선 밖 첫 하루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FD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47501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547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군번여지도 강원: 휴전선 밖 첫 하루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31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서비스 · 모바일 웹/PWA  |  https://gunbeon.gangwon.kr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0302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장병과 가족·연인·친구가 강원 여행을 함께 준비하고,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복귀 기준에 맞춰 일정을 조정하며, 다녀온 하루를 기록하는 여행 여권.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41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출타의 제약은 시간, 여행의 이유는 함께하는 사람입니다.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장병은 복귀 기준을, 동행자는 이동·도보·식사 조건을 고려해야 합니다.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관광정보를 찾은 뒤 단체 대화방에서 다시 조율하는 과정을 한 일정으로 잇습니다.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강원 접경 5군의 평화·자연·식사 장소를 연결해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면회와 휴가도 각자의 조건에 맞는 강원 여행이 되도록 돕습니다.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2 / 13">
            <a:extLst xmlns:a="http://schemas.openxmlformats.org/drawingml/2006/main">
              <a:ext uri="{FF2B5EF4-FFF2-40B4-BE49-F238E27FC236}">
                <a16:creationId xmlns:a16="http://schemas.microsoft.com/office/drawing/2014/main" id="{89C4FB92-66B3-412B-83DF-B8A9EAAE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526000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6" cy="473348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4"/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>
                        <a:buNone/>
                      </a:pP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 관광정보로 만드는 나의 강원 일정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강원 관광지·음식점을 찾아 장소·순서·체류시간을 내 여행에 맞춥니다.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 동행 그룹과 함께 준비하기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가족·연인·친구와 공동 일정을 만들고 개인 여행 사본으로 이어갑니다.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 복귀 여유 비교와 조정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한 곳 생략·체류시간 변경 전후의 추정 여유를 비교하고 저장합니다.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 현재 출타에서 하루 여권까지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계획과 실제 출타를 구분하고, 다녀온 장소만 선택해 하루를 기록합니다.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 한 수를 받아 여행에 반영하기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공개한 여행에 장소 제안을 받고 검토한 변경을 실제 일정에 반영합니다.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3 / 13">
            <a:extLst xmlns:a="http://schemas.openxmlformats.org/drawingml/2006/main">
              <a:ext uri="{FF2B5EF4-FFF2-40B4-BE49-F238E27FC236}">
                <a16:creationId xmlns:a16="http://schemas.microsoft.com/office/drawing/2014/main" id="{3CC5E7B1-91F4-402E-A206-1CAF797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8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6" cy="499117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4"/>
              </a:tblGrid>
              <a:tr h="18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)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43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cef2734db4f01"/>
          <a:stretch xmlns:a="http://schemas.openxmlformats.org/drawingml/2006/main"/>
        </p:blipFill>
        <p:spPr>
          <a:xfrm xmlns:a="http://schemas.openxmlformats.org/drawingml/2006/main">
            <a:off x="2581275" y="1343025"/>
            <a:ext cx="3048000" cy="1600200"/>
          </a:xfrm>
          <a:prstGeom xmlns:a="http://schemas.openxmlformats.org/drawingml/2006/main" prst="rect">
            <a:avLst/>
          </a:prstGeom>
        </p:spPr>
      </p:pic>
      <p:sp>
        <p:nvSpPr>
          <p:cNvPr id="3" name="군번여지도 강원">
            <a:extLst xmlns:a="http://schemas.openxmlformats.org/drawingml/2006/main">
              <a:ext uri="{FF2B5EF4-FFF2-40B4-BE49-F238E27FC236}">
                <a16:creationId xmlns:a16="http://schemas.microsoft.com/office/drawing/2014/main" id="{6C5996FD-179A-44B1-9A18-9564165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382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defRPr>
            </a:pPr>
            <a:r>
              <a:rPr sz="2250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rPr>
              <a:t>군번여지도 강원</a:t>
            </a:r>
          </a:p>
        </p:txBody>
      </p:sp>
      <p:sp>
        <p:nvSpPr>
          <p:cNvPr id="4" name="함께 만든 일정에, 나의 복귀 기준을.">
            <a:extLst xmlns:a="http://schemas.openxmlformats.org/drawingml/2006/main">
              <a:ext uri="{FF2B5EF4-FFF2-40B4-BE49-F238E27FC236}">
                <a16:creationId xmlns:a16="http://schemas.microsoft.com/office/drawing/2014/main" id="{73E92DF8-F36C-412E-9E88-A13525AD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1452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함께 만든 일정에, 나의 복귀 기준을.</a:t>
            </a:r>
          </a:p>
        </p:txBody>
      </p:sp>
      <p:sp>
        <p:nvSpPr>
          <p:cNvPr id="5" name="휴전선 밖 첫 하루  ·  gunbeon.gangw">
            <a:extLst xmlns:a="http://schemas.openxmlformats.org/drawingml/2006/main">
              <a:ext uri="{FF2B5EF4-FFF2-40B4-BE49-F238E27FC236}">
                <a16:creationId xmlns:a16="http://schemas.microsoft.com/office/drawing/2014/main" id="{33E4DF24-82B5-48A3-A561-D0D9A8A9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28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F666D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>
                <a:solidFill>
                  <a:srgbClr val="4F666D"/>
                </a:solidFill>
                <a:latin typeface="맑은 고딕"/>
                <a:ea typeface="맑은 고딕"/>
                <a:cs typeface="맑은 고딕"/>
              </a:rPr>
              <a:t>휴전선 밖 첫 하루  ·  gunbeon.gangwon.kr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2d3a862714505"/>
          <a:stretch xmlns:a="http://schemas.openxmlformats.org/drawingml/2006/main"/>
        </p:blipFill>
        <p:spPr>
          <a:xfrm xmlns:a="http://schemas.openxmlformats.org/drawingml/2006/main">
            <a:off x="2653718" y="3228975"/>
            <a:ext cx="1169564" cy="2447925"/>
          </a:xfrm>
          <a:prstGeom xmlns:a="http://schemas.openxmlformats.org/drawingml/2006/main" prst="rect">
            <a:avLst/>
          </a:prstGeom>
        </p:spPr>
      </p:pic>
      <p:sp>
        <p:nvSpPr>
          <p:cNvPr id="7" name="함께 준비하는 홈">
            <a:extLst xmlns:a="http://schemas.openxmlformats.org/drawingml/2006/main">
              <a:ext uri="{FF2B5EF4-FFF2-40B4-BE49-F238E27FC236}">
                <a16:creationId xmlns:a16="http://schemas.microsoft.com/office/drawing/2014/main" id="{2F88F04B-EB77-4DFA-81B9-F88BEB7C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9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함께 준비하는 홈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7cc5a88714726"/>
          <a:stretch xmlns:a="http://schemas.openxmlformats.org/drawingml/2006/main"/>
        </p:blipFill>
        <p:spPr>
          <a:xfrm xmlns:a="http://schemas.openxmlformats.org/drawingml/2006/main">
            <a:off x="4568243" y="3228975"/>
            <a:ext cx="1169564" cy="2447925"/>
          </a:xfrm>
          <a:prstGeom xmlns:a="http://schemas.openxmlformats.org/drawingml/2006/main" prst="rect">
            <a:avLst/>
          </a:prstGeom>
        </p:spPr>
      </p:pic>
      <p:sp>
        <p:nvSpPr>
          <p:cNvPr id="9" name="읽기 쉬운 일정표">
            <a:extLst xmlns:a="http://schemas.openxmlformats.org/drawingml/2006/main">
              <a:ext uri="{FF2B5EF4-FFF2-40B4-BE49-F238E27FC236}">
                <a16:creationId xmlns:a16="http://schemas.microsoft.com/office/drawing/2014/main" id="{BFFA2492-45AA-4442-9291-7494103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79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읽기 쉬운 일정표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8e98b1ab44d0"/>
          <a:stretch xmlns:a="http://schemas.openxmlformats.org/drawingml/2006/main"/>
        </p:blipFill>
        <p:spPr>
          <a:xfrm xmlns:a="http://schemas.openxmlformats.org/drawingml/2006/main">
            <a:off x="6482768" y="3228975"/>
            <a:ext cx="1169564" cy="2447925"/>
          </a:xfrm>
          <a:prstGeom xmlns:a="http://schemas.openxmlformats.org/drawingml/2006/main" prst="rect">
            <a:avLst/>
          </a:prstGeom>
        </p:spPr>
      </p:pic>
      <p:sp>
        <p:nvSpPr>
          <p:cNvPr id="11" name="복귀 여유 비교">
            <a:extLst xmlns:a="http://schemas.openxmlformats.org/drawingml/2006/main">
              <a:ext uri="{FF2B5EF4-FFF2-40B4-BE49-F238E27FC236}">
                <a16:creationId xmlns:a16="http://schemas.microsoft.com/office/drawing/2014/main" id="{E87EFAC3-AC7B-4915-B6CC-223C7EED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9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복귀 여유 비교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4b54823c14e33"/>
          <a:stretch xmlns:a="http://schemas.openxmlformats.org/drawingml/2006/main"/>
        </p:blipFill>
        <p:spPr>
          <a:xfrm xmlns:a="http://schemas.openxmlformats.org/drawingml/2006/main">
            <a:off x="8397293" y="3228975"/>
            <a:ext cx="1169564" cy="2447925"/>
          </a:xfrm>
          <a:prstGeom xmlns:a="http://schemas.openxmlformats.org/drawingml/2006/main" prst="rect">
            <a:avLst/>
          </a:prstGeom>
        </p:spPr>
      </p:pic>
      <p:sp>
        <p:nvSpPr>
          <p:cNvPr id="13" name="동행 편의시설 안내">
            <a:extLst xmlns:a="http://schemas.openxmlformats.org/drawingml/2006/main">
              <a:ext uri="{FF2B5EF4-FFF2-40B4-BE49-F238E27FC236}">
                <a16:creationId xmlns:a16="http://schemas.microsoft.com/office/drawing/2014/main" id="{FC5DA257-1025-4A36-9555-8792B58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79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동행 편의시설 안내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f32d572a54e2b"/>
          <a:stretch xmlns:a="http://schemas.openxmlformats.org/drawingml/2006/main"/>
        </p:blipFill>
        <p:spPr>
          <a:xfrm xmlns:a="http://schemas.openxmlformats.org/drawingml/2006/main">
            <a:off x="10311818" y="3228975"/>
            <a:ext cx="1169564" cy="2447925"/>
          </a:xfrm>
          <a:prstGeom xmlns:a="http://schemas.openxmlformats.org/drawingml/2006/main" prst="rect">
            <a:avLst/>
          </a:prstGeom>
        </p:spPr>
      </p:pic>
      <p:sp>
        <p:nvSpPr>
          <p:cNvPr id="15" name="여행에 한 수">
            <a:extLst xmlns:a="http://schemas.openxmlformats.org/drawingml/2006/main">
              <a:ext uri="{FF2B5EF4-FFF2-40B4-BE49-F238E27FC236}">
                <a16:creationId xmlns:a16="http://schemas.microsoft.com/office/drawing/2014/main" id="{CC09037E-62E6-4C20-9B9A-81B64D9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91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여행에 한 수</a:t>
            </a:r>
          </a:p>
        </p:txBody>
      </p:sp>
      <p:sp>
        <p:nvSpPr>
          <p:cNvPr id="16" name="4 / 13">
            <a:extLst xmlns:a="http://schemas.openxmlformats.org/drawingml/2006/main">
              <a:ext uri="{FF2B5EF4-FFF2-40B4-BE49-F238E27FC236}">
                <a16:creationId xmlns:a16="http://schemas.microsoft.com/office/drawing/2014/main" id="{952730E0-1BB3-4EF2-8360-F25B3EF2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4 / 13</a:t>
            </a:r>
          </a:p>
        </p:txBody>
      </p:sp>
      <p:sp>
        <p:nvSpPr>
          <p:cNvPr id="1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5AB6F574-DCA8-4B2F-93B0-45075C3E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dd9162993b3040b3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2822969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8" name="표 2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507973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194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sz="1600" b="1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강원특별자치도</a:t>
                      </a:r>
                    </a:p>
                    <a:p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철원 · 화천 · 양구 · 인제 · 고성 접경 5군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춘천·속초는 가족 방문과 이동을 위한 보조 관문으로 활용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35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탐색  ─  접경 5군별 추천 여행과 관광공사 장소 검색을 제공합니다.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판단  ─  예약·운영·편의 안내를 출처와 함께 확인하고 일정을 조정합니다.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 방문  ─  동행 그룹별 여행과 강원 5개 장의 기록을 다음 출타로 이어갑니다.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철원 예시: 고석정 → 노동당사 → 관광공사 음식점 후보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고성 예시: 왕곡마을 → 송지호관망타워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내 관광과 식사를 연결하되, 운영 여부·예약 조건은 방문 전에 확인합니다.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5 / 13">
            <a:extLst xmlns:a="http://schemas.openxmlformats.org/drawingml/2006/main">
              <a:ext uri="{FF2B5EF4-FFF2-40B4-BE49-F238E27FC236}">
                <a16:creationId xmlns:a16="http://schemas.microsoft.com/office/drawing/2014/main" id="{A21D95FF-D834-4DC2-A75A-276ABAAD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3192526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날짜 없이 둘러보기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지역과 동행 취향으로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추천 여행을 살펴봅니다.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실제 관광정보 검색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관광공사 장소·상세를 확인해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일정에 넣습니다.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내 조건으로 편집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날짜·순서·체류시간과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여행별 동행 조건을 정합니다.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보기 좋은 일정표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장소와 시간·이동 추정을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화면에서 확인합니다.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기능1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관광정보로 만드는 나의 강원 일정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강원 관광지·음식점을 찾아 장소·순서·체류시간을 내 여행에 맞춥니다.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d77a492084355"/>
          <a:stretch xmlns:a="http://schemas.openxmlformats.org/drawingml/2006/main"/>
        </p:blipFill>
        <p:spPr>
          <a:xfrm xmlns:a="http://schemas.openxmlformats.org/drawingml/2006/main">
            <a:off x="1079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1ffe59dd34fa7"/>
          <a:stretch xmlns:a="http://schemas.openxmlformats.org/drawingml/2006/main"/>
        </p:blipFill>
        <p:spPr>
          <a:xfrm xmlns:a="http://schemas.openxmlformats.org/drawingml/2006/main">
            <a:off x="39371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499c00f2048c1"/>
          <a:stretch xmlns:a="http://schemas.openxmlformats.org/drawingml/2006/main"/>
        </p:blipFill>
        <p:spPr>
          <a:xfrm xmlns:a="http://schemas.openxmlformats.org/drawingml/2006/main">
            <a:off x="6794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c1654289944ae"/>
          <a:stretch xmlns:a="http://schemas.openxmlformats.org/drawingml/2006/main"/>
        </p:blipFill>
        <p:spPr>
          <a:xfrm xmlns:a="http://schemas.openxmlformats.org/drawingml/2006/main">
            <a:off x="9652159" y="2362200"/>
            <a:ext cx="1269683" cy="2657475"/>
          </a:xfrm>
          <a:prstGeom xmlns:a="http://schemas.openxmlformats.org/drawingml/2006/main" prst="rect">
            <a:avLst/>
          </a:prstGeom>
        </p:spPr>
      </p:pic>
      <p:sp>
        <p:nvSpPr>
          <p:cNvPr id="26" name="6 / 13">
            <a:extLst xmlns:a="http://schemas.openxmlformats.org/drawingml/2006/main">
              <a:ext uri="{FF2B5EF4-FFF2-40B4-BE49-F238E27FC236}">
                <a16:creationId xmlns:a16="http://schemas.microsoft.com/office/drawing/2014/main" id="{F2C20EFD-2119-431C-A6EE-3F75065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6 / 13</a:t>
            </a:r>
          </a:p>
        </p:txBody>
      </p:sp>
      <p:sp>
        <p:nvSpPr>
          <p:cNvPr id="2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0D2DBE90-8097-4204-B9ED-08991333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8f8781461e504f64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동행 그룹 선택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가족·연인·친구 그룹으로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여행을 나눠 관리합니다.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초대로 함께 준비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초대받은 사람이 가입하고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일정에 참여합니다.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공동 여행 편집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여행의 장소·순서·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출발 계획을 함께 바꿉니다.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내 여행 사본 만들기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 기준은 내 사본에서.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원본과 자동 동기화 없음.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기능2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동행 그룹과 함께 준비하기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가족·연인·친구와 공동 일정을 만들고 개인 여행 사본으로 이어갑니다.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b14dcd4004a97"/>
          <a:stretch xmlns:a="http://schemas.openxmlformats.org/drawingml/2006/main"/>
        </p:blipFill>
        <p:spPr>
          <a:xfrm xmlns:a="http://schemas.openxmlformats.org/drawingml/2006/main">
            <a:off x="1079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5a5d4696e41a4"/>
          <a:stretch xmlns:a="http://schemas.openxmlformats.org/drawingml/2006/main"/>
        </p:blipFill>
        <p:spPr>
          <a:xfrm xmlns:a="http://schemas.openxmlformats.org/drawingml/2006/main">
            <a:off x="39371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c907e0a794df7"/>
          <a:stretch xmlns:a="http://schemas.openxmlformats.org/drawingml/2006/main"/>
        </p:blipFill>
        <p:spPr>
          <a:xfrm xmlns:a="http://schemas.openxmlformats.org/drawingml/2006/main">
            <a:off x="6794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706f548a94d15"/>
          <a:stretch xmlns:a="http://schemas.openxmlformats.org/drawingml/2006/main"/>
        </p:blipFill>
        <p:spPr>
          <a:xfrm xmlns:a="http://schemas.openxmlformats.org/drawingml/2006/main">
            <a:off x="9652159" y="2362200"/>
            <a:ext cx="1269683" cy="2657475"/>
          </a:xfrm>
          <a:prstGeom xmlns:a="http://schemas.openxmlformats.org/drawingml/2006/main" prst="rect">
            <a:avLst/>
          </a:prstGeom>
        </p:spPr>
      </p:pic>
      <p:sp>
        <p:nvSpPr>
          <p:cNvPr id="26" name="7 / 13">
            <a:extLst xmlns:a="http://schemas.openxmlformats.org/drawingml/2006/main">
              <a:ext uri="{FF2B5EF4-FFF2-40B4-BE49-F238E27FC236}">
                <a16:creationId xmlns:a16="http://schemas.microsoft.com/office/drawing/2014/main" id="{83C1B968-8457-45C0-94BB-5AB8638E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7 / 13</a:t>
            </a:r>
          </a:p>
        </p:txBody>
      </p:sp>
      <p:sp>
        <p:nvSpPr>
          <p:cNvPr id="2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99BC9D4A-3353-4C35-8A32-4E12E0D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52ece037ebb741ab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나의 기준 입력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출발·복귀 시각과 도보·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여유를 설정합니다.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조정안 고르기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장소 생략 또는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체류시간 감소를 선택합니다.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전후를 비교하기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복귀 여유·도보량을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비교해 직접 판단합니다.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적용 후 일정 저장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변경안을 저장하고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필요하면 되돌립니다.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기능3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 여유 비교와 조정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곳 생략·체류시간 변경 전후의 추정 여유를 비교하고 저장합니다.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ceca9b27f4b35"/>
          <a:stretch xmlns:a="http://schemas.openxmlformats.org/drawingml/2006/main"/>
        </p:blipFill>
        <p:spPr>
          <a:xfrm xmlns:a="http://schemas.openxmlformats.org/drawingml/2006/main">
            <a:off x="1079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bff7d9ddd4814"/>
          <a:stretch xmlns:a="http://schemas.openxmlformats.org/drawingml/2006/main"/>
        </p:blipFill>
        <p:spPr>
          <a:xfrm xmlns:a="http://schemas.openxmlformats.org/drawingml/2006/main">
            <a:off x="39371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d11a66d8a4485"/>
          <a:stretch xmlns:a="http://schemas.openxmlformats.org/drawingml/2006/main"/>
        </p:blipFill>
        <p:spPr>
          <a:xfrm xmlns:a="http://schemas.openxmlformats.org/drawingml/2006/main">
            <a:off x="6794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191120c134b04"/>
          <a:stretch xmlns:a="http://schemas.openxmlformats.org/drawingml/2006/main"/>
        </p:blipFill>
        <p:spPr>
          <a:xfrm xmlns:a="http://schemas.openxmlformats.org/drawingml/2006/main">
            <a:off x="9652159" y="2362200"/>
            <a:ext cx="1269683" cy="2657475"/>
          </a:xfrm>
          <a:prstGeom xmlns:a="http://schemas.openxmlformats.org/drawingml/2006/main" prst="rect">
            <a:avLst/>
          </a:prstGeom>
        </p:spPr>
      </p:pic>
      <p:sp>
        <p:nvSpPr>
          <p:cNvPr id="26" name="8 / 13">
            <a:extLst xmlns:a="http://schemas.openxmlformats.org/drawingml/2006/main">
              <a:ext uri="{FF2B5EF4-FFF2-40B4-BE49-F238E27FC236}">
                <a16:creationId xmlns:a16="http://schemas.microsoft.com/office/drawing/2014/main" id="{6C4EDEAF-8B72-49F8-BCE1-E76596B7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8 / 13</a:t>
            </a:r>
          </a:p>
        </p:txBody>
      </p:sp>
      <p:sp>
        <p:nvSpPr>
          <p:cNvPr id="2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D3A841A8-3874-448B-B735-E61DC87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94caa1963b5f4fb5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출발을 직접 확인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계획을 남겨두고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출타를 시작합니다.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현재 출타 확인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시각으로 남은 일정과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 여유를 확인합니다.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방문한 장소만 완료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다녀온 곳을 확인한 뒤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여행 기록과 스탬프를 만듭니다.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하루 여권으로 남기기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카드·기록 수정·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다시 계획으로 가져오기.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기능4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출타에서 하루 여권까지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계획과 실제 출타를 구분하고, 다녀온 장소만 선택해 하루를 기록합니다.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c91ca5de14197"/>
          <a:stretch xmlns:a="http://schemas.openxmlformats.org/drawingml/2006/main"/>
        </p:blipFill>
        <p:spPr>
          <a:xfrm xmlns:a="http://schemas.openxmlformats.org/drawingml/2006/main">
            <a:off x="1079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17ddbae844f36"/>
          <a:stretch xmlns:a="http://schemas.openxmlformats.org/drawingml/2006/main"/>
        </p:blipFill>
        <p:spPr>
          <a:xfrm xmlns:a="http://schemas.openxmlformats.org/drawingml/2006/main">
            <a:off x="39371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d7baf3174c88"/>
          <a:stretch xmlns:a="http://schemas.openxmlformats.org/drawingml/2006/main"/>
        </p:blipFill>
        <p:spPr>
          <a:xfrm xmlns:a="http://schemas.openxmlformats.org/drawingml/2006/main">
            <a:off x="6794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516df23574962"/>
          <a:stretch xmlns:a="http://schemas.openxmlformats.org/drawingml/2006/main"/>
        </p:blipFill>
        <p:spPr>
          <a:xfrm xmlns:a="http://schemas.openxmlformats.org/drawingml/2006/main">
            <a:off x="9652159" y="2362200"/>
            <a:ext cx="1269683" cy="2657475"/>
          </a:xfrm>
          <a:prstGeom xmlns:a="http://schemas.openxmlformats.org/drawingml/2006/main" prst="rect">
            <a:avLst/>
          </a:prstGeom>
        </p:spPr>
      </p:pic>
      <p:sp>
        <p:nvSpPr>
          <p:cNvPr id="26" name="9 / 13">
            <a:extLst xmlns:a="http://schemas.openxmlformats.org/drawingml/2006/main">
              <a:ext uri="{FF2B5EF4-FFF2-40B4-BE49-F238E27FC236}">
                <a16:creationId xmlns:a16="http://schemas.microsoft.com/office/drawing/2014/main" id="{F8BCBFB2-D2E6-45F7-A33A-7A3D0DF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9 / 13</a:t>
            </a:r>
          </a:p>
        </p:txBody>
      </p:sp>
      <p:sp>
        <p:nvSpPr>
          <p:cNvPr id="2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A9A9F00C-A4E0-4026-AEE9-FE894EC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c924efd1482247e2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8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공개할 내용 확인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관광지와 질문만 공개.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시각·직접 입력지는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내용에서 제외합니다.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링크로 한 수 받기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방문자는 장소의 추가·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교체·생략을 제안합니다.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작성자가 검토하기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제안을 읽고 내 일정에서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변경안을 확인합니다.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저장 후 반영 표시</a:t>
                      </a:r>
                    </a:p>
                    <a:p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일정 저장 후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완료로 표시합니다.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여행으로도 가져갑니다.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기능5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 수를 받아 여행에 반영하기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공개한 여행에 장소 제안을 받고 검토한 변경을 실제 일정에 반영합니다.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26f9c98124306"/>
          <a:stretch xmlns:a="http://schemas.openxmlformats.org/drawingml/2006/main"/>
        </p:blipFill>
        <p:spPr>
          <a:xfrm xmlns:a="http://schemas.openxmlformats.org/drawingml/2006/main">
            <a:off x="1079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52aa85fd9469e"/>
          <a:stretch xmlns:a="http://schemas.openxmlformats.org/drawingml/2006/main"/>
        </p:blipFill>
        <p:spPr>
          <a:xfrm xmlns:a="http://schemas.openxmlformats.org/drawingml/2006/main">
            <a:off x="39371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e7bb8a49a4af5"/>
          <a:stretch xmlns:a="http://schemas.openxmlformats.org/drawingml/2006/main"/>
        </p:blipFill>
        <p:spPr>
          <a:xfrm xmlns:a="http://schemas.openxmlformats.org/drawingml/2006/main">
            <a:off x="6794659" y="2362200"/>
            <a:ext cx="1269683" cy="2657475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9eeb6ff85493c"/>
          <a:stretch xmlns:a="http://schemas.openxmlformats.org/drawingml/2006/main"/>
        </p:blipFill>
        <p:spPr>
          <a:xfrm xmlns:a="http://schemas.openxmlformats.org/drawingml/2006/main">
            <a:off x="9652159" y="2362200"/>
            <a:ext cx="1269683" cy="2657475"/>
          </a:xfrm>
          <a:prstGeom xmlns:a="http://schemas.openxmlformats.org/drawingml/2006/main" prst="rect">
            <a:avLst/>
          </a:prstGeom>
        </p:spPr>
      </p:pic>
      <p:sp>
        <p:nvSpPr>
          <p:cNvPr id="26" name="10 / 13">
            <a:extLst xmlns:a="http://schemas.openxmlformats.org/drawingml/2006/main">
              <a:ext uri="{FF2B5EF4-FFF2-40B4-BE49-F238E27FC236}">
                <a16:creationId xmlns:a16="http://schemas.microsoft.com/office/drawing/2014/main" id="{191B75C5-DCD0-4190-AFF5-417EFC90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27" name="화면: 9/16 운영본·예시 여행 | 사진: ⓒ한국">
            <a:extLst xmlns:a="http://schemas.openxmlformats.org/drawingml/2006/main">
              <a:ext uri="{FF2B5EF4-FFF2-40B4-BE49-F238E27FC236}">
                <a16:creationId xmlns:a16="http://schemas.microsoft.com/office/drawing/2014/main" id="{D43E427A-DF3B-4DFF-BDA4-BC609DD1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화면: 9/16 운영본·예시 여행 | 사진: ⓒ한국관광공사 · Sadopaul/Gyuwon Lee(CC BY-SA 4.0) 외 · </a:t>
            </a:r>
            <a:r>
              <a:rPr sz="938" b="0">
                <a:solidFill>
                  <a:srgbClr val="677B80"/>
                </a:solidFill>
                <a:latin typeface="맑은 고딕"/>
                <a:ea typeface="맑은 고딕"/>
                <a:cs typeface="맑은 고딕"/>
                <a:hlinkClick xmlns:r="http://schemas.openxmlformats.org/officeDocument/2006/relationships" r:id="R7a30fd742c314e6e"/>
              </a:rPr>
              <a:t>원문/이용조건</a:t>
            </a: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B5C6218-299F-4086-AE16-F5F4246C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4770658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한국관광공사 </a:t>
            </a:r>
            <a:r>
              <a:rPr sz="1400" b="1">
                <a:solidFill>
                  <a:schemeClr val="bg1"/>
                </a:solidFill>
              </a:rPr>
              <a:t>OpenAPI </a:t>
            </a:r>
            <a:r>
              <a:rPr sz="1400" b="1">
                <a:solidFill>
                  <a:schemeClr val="bg1"/>
                </a:solidFill>
              </a:rPr>
              <a:t>리스트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3789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한국관광공사 국문 관광정보 서비스_GW (KorService2)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강원 장소·좌표·사진·상세 → 검색·지도·일정 편집·이동시간 추정에 활용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한국관광공사 무장애 여행 정보 (KorWithService2)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주차·접근로·대여 안내 → 장소 상세와 동행 브리핑의 편의시설 확인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실제 호출 → 장소 선택 → 나의 일정 판단">
            <a:extLst xmlns:a="http://schemas.openxmlformats.org/drawingml/2006/main">
              <a:ext uri="{FF2B5EF4-FFF2-40B4-BE49-F238E27FC236}">
                <a16:creationId xmlns:a16="http://schemas.microsoft.com/office/drawing/2014/main" id="{454EA7B2-DEDC-41FA-BE86-F81811D3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1143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rPr>
              <a:t>실제 호출 → 장소 선택 → 나의 일정 판단</a:t>
            </a:r>
          </a:p>
        </p:txBody>
      </p:sp>
      <p:sp>
        <p:nvSpPr>
          <p:cNvPr id="6" name="9/16 운영 확인: 철원 5유형 113곳 · 꽃밭">
            <a:extLst xmlns:a="http://schemas.openxmlformats.org/drawingml/2006/main">
              <a:ext uri="{FF2B5EF4-FFF2-40B4-BE49-F238E27FC236}">
                <a16:creationId xmlns:a16="http://schemas.microsoft.com/office/drawing/2014/main" id="{362FE0C7-F25A-458A-89AC-B42985B0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57900"/>
            <a:ext cx="1143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9/16 운영 확인: 철원 5유형 113곳 · 꽃밭 상세/무장애 응답 성공</a:t>
            </a:r>
          </a:p>
          <a:p xmlns:a="http://schemas.openxmlformats.org/drawingml/2006/main">
            <a:pPr algn="l">
              <a:defRPr sz="16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출처: ⓒ한국관광공사  |  API 키는 서버에서만 사용 · 운영 DB에는 원문 응답 미적재</a:t>
            </a:r>
          </a:p>
        </p:txBody>
      </p:sp>
      <p:sp>
        <p:nvSpPr>
          <p:cNvPr id="7" name="11 / 13">
            <a:extLst xmlns:a="http://schemas.openxmlformats.org/drawingml/2006/main">
              <a:ext uri="{FF2B5EF4-FFF2-40B4-BE49-F238E27FC236}">
                <a16:creationId xmlns:a16="http://schemas.microsoft.com/office/drawing/2014/main" id="{59FBF54E-B09D-42D7-9E70-9EC439EC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22229470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6240769-CC38-4B70-A70E-07659135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89358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기타 </a:t>
            </a:r>
            <a:r>
              <a:rPr sz="1400" b="1">
                <a:solidFill>
                  <a:schemeClr val="bg1"/>
                </a:solidFill>
              </a:rPr>
              <a:t>API, </a:t>
            </a:r>
            <a:r>
              <a:rPr sz="1400" b="1">
                <a:solidFill>
                  <a:schemeClr val="bg1"/>
                </a:solidFill>
              </a:rPr>
              <a:t>파일데이터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12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2265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통일부 DMZ 관광·카페 파일 / 국가보훈부 현충시설 수집본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강원 관광·회복·호국 장소의 기본 후보로 정규화. API 실패 시 출처를 구분해 제공.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카카오맵 JavaScript SDK / 외부 길찾기 링크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장소·일정 지도와 직접 장소 선택. 실제 도로 경로 시간 계산은 외부로 연결.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기상청 단기예보 조회서비스 (getVilageFcst)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권역 대표 격자의 8시간 예보를 안내. 사용자가 적용한 날씨 조건을 일정 여유에 반영.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서로 다른 근거를 같은 확정값으로 표시하지 않습니다">
            <a:extLst xmlns:a="http://schemas.openxmlformats.org/drawingml/2006/main">
              <a:ext uri="{FF2B5EF4-FFF2-40B4-BE49-F238E27FC236}">
                <a16:creationId xmlns:a16="http://schemas.microsoft.com/office/drawing/2014/main" id="{E1D1195B-7761-4DA3-ADC1-0243B03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62450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defRPr>
            </a:pPr>
            <a:r>
              <a:rPr sz="2025" b="1">
                <a:solidFill>
                  <a:srgbClr val="174E51"/>
                </a:solidFill>
                <a:latin typeface="맑은 고딕"/>
                <a:ea typeface="맑은 고딕"/>
                <a:cs typeface="맑은 고딕"/>
              </a:rPr>
              <a:t>서로 다른 근거를 같은 확정값으로 표시하지 않습니다.</a:t>
            </a:r>
          </a:p>
        </p:txBody>
      </p:sp>
      <p:sp>
        <p:nvSpPr>
          <p:cNvPr id="9" name="공공 API 실응답  /  출처가 있는 기본 파일자">
            <a:extLst xmlns:a="http://schemas.openxmlformats.org/drawingml/2006/main">
              <a:ext uri="{FF2B5EF4-FFF2-40B4-BE49-F238E27FC236}">
                <a16:creationId xmlns:a16="http://schemas.microsoft.com/office/drawing/2014/main" id="{795B8D27-80A6-4BA1-8238-B7E75462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1114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공공 API 실응답  /  출처가 있는 기본 파일자료  /  공식 안내 수동 확인  /  거리 기반 추정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운영·예약·신분확인 조건은 확인한 범위와 기준일을 구분합니다.</a:t>
            </a:r>
          </a:p>
          <a:p xmlns:a="http://schemas.openxmlformats.org/drawingml/2006/main">
            <a:pPr algn="l">
              <a:def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0">
                <a:solidFill>
                  <a:srgbClr val="172B35"/>
                </a:solidFill>
                <a:latin typeface="맑은 고딕"/>
                <a:ea typeface="맑은 고딕"/>
                <a:cs typeface="맑은 고딕"/>
              </a:rPr>
              <a:t>복귀 여유는 거리 기반 참고값이며, 실제 교통과 소속 부대 규정은 직접 확인합니다.</a:t>
            </a:r>
          </a:p>
        </p:txBody>
      </p:sp>
      <p:sp>
        <p:nvSpPr>
          <p:cNvPr id="10" name="12 / 13">
            <a:extLst xmlns:a="http://schemas.openxmlformats.org/drawingml/2006/main">
              <a:ext uri="{FF2B5EF4-FFF2-40B4-BE49-F238E27FC236}">
                <a16:creationId xmlns:a16="http://schemas.microsoft.com/office/drawing/2014/main" id="{7BC2F5B4-3940-45C0-B424-FBDF34A9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3" name="표 2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507430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246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함께 준비하되, 개인의 복귀 기준은 따로 다룹니다.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그룹의 관광 일정과 장병의 개인 판단을 연결하면서 공유 범위를 구분합니다.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관광정보를 읽는 데서 끝나지 않고, 오늘의 선택을 바꿉니다.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공사 좌표·상세·편의정보가 장소 선택과 일정 조정의 근거가 됩니다.</a:t>
                      </a:r>
                    </a:p>
                    <a:p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외부의 “한 수”를 댓글에서 실제 일정 변경으로 이어갑니다.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장소 단위 제안을 비교·저장한 뒤 반영 여부를 남깁니다.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608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· 실제 장병과 동행자가 계획·초대·조정을 완주하는지 검증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         완료율, 막힌 단계, 다음 출타 재사용을 관찰해 UX 보완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 · 접경 5군 운영·예약 조건의 확인 범위를 넓히고 갱신 체계 정비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         관광공사 운영계정·호출량 확대와 안정적 운영을 병행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3단계 · 지역 관광 주체와 실증을 제안해 식사·체류 장소 연결 개선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           강원에서 효과를 확인한 뒤 확장 검토</a:t>
                      </a:r>
                    </a:p>
                    <a:p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7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계획 완료율 · 제안 반영률 · 다음 출타 재사용률로 개선 효과를 확인합니다.</a:t>
                      </a:r>
                    </a:p>
                  </a:txBody>
                  <a:tcPr marL="133350" marR="133350" marT="57150" marB="5715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13 / 13">
            <a:extLst xmlns:a="http://schemas.openxmlformats.org/drawingml/2006/main">
              <a:ext uri="{FF2B5EF4-FFF2-40B4-BE49-F238E27FC236}">
                <a16:creationId xmlns:a16="http://schemas.microsoft.com/office/drawing/2014/main" id="{96715F47-0D64-479A-A560-BA032B2E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67500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0">
                <a:solidFill>
                  <a:srgbClr val="677B80"/>
                </a:solidFill>
                <a:latin typeface="맑은 고딕"/>
                <a:ea typeface="맑은 고딕"/>
                <a:cs typeface="맑은 고딕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3988568962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2026-09-16T02:55:45.1790000Z</dcterms:created>
  <dcterms:modified xsi:type="dcterms:W3CDTF">2026-09-16T02:55:45.1790000Z</dcterms:modified>
</coreProperties>
</file>