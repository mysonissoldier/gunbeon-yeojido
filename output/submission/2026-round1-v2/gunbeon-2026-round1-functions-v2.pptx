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60fe753bc645df" /><Relationship Type="http://schemas.openxmlformats.org/officeDocument/2006/relationships/extended-properties" Target="/docProps/app.xml" Id="R3e38a4a44a514883" /><Relationship Type="http://schemas.openxmlformats.org/officeDocument/2006/relationships/officeDocument" Target="/ppt/presentation.xml" Id="R9661271daf4b4a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64fd74112f41ae"/>
  </p:sldMasterIdLst>
  <p:notesMasterIdLst>
    <p:notesMasterId xmlns:r="http://schemas.openxmlformats.org/officeDocument/2006/relationships" r:id="R8b8ad579b16f4c81"/>
  </p:notesMasterIdLst>
  <p:sldIdLst>
    <p:sldId xmlns:r="http://schemas.openxmlformats.org/officeDocument/2006/relationships" id="256" r:id="Rb21654094074457f"/>
    <p:sldId xmlns:r="http://schemas.openxmlformats.org/officeDocument/2006/relationships" id="257" r:id="R030a7e4c4c6d4609"/>
    <p:sldId xmlns:r="http://schemas.openxmlformats.org/officeDocument/2006/relationships" id="258" r:id="R70eae9662d114da3"/>
    <p:sldId xmlns:r="http://schemas.openxmlformats.org/officeDocument/2006/relationships" id="259" r:id="Rbaf7fbbf016f47dd"/>
    <p:sldId xmlns:r="http://schemas.openxmlformats.org/officeDocument/2006/relationships" id="260" r:id="R8aa974c12c2243c1"/>
    <p:sldId xmlns:r="http://schemas.openxmlformats.org/officeDocument/2006/relationships" id="261" r:id="R7e75f20098584cc6"/>
    <p:sldId xmlns:r="http://schemas.openxmlformats.org/officeDocument/2006/relationships" id="262" r:id="Rd2bcbd49ad1b4d11"/>
    <p:sldId xmlns:r="http://schemas.openxmlformats.org/officeDocument/2006/relationships" id="263" r:id="R2df4077a859e4d99"/>
    <p:sldId xmlns:r="http://schemas.openxmlformats.org/officeDocument/2006/relationships" id="264" r:id="Rddda54eb94634cbb"/>
    <p:sldId xmlns:r="http://schemas.openxmlformats.org/officeDocument/2006/relationships" id="265" r:id="R56110a28ac9041c9"/>
    <p:sldId xmlns:r="http://schemas.openxmlformats.org/officeDocument/2006/relationships" id="266" r:id="Rf643d27457994ea2"/>
    <p:sldId xmlns:r="http://schemas.openxmlformats.org/officeDocument/2006/relationships" id="267" r:id="R89e2d20e405842e5"/>
    <p:sldId xmlns:r="http://schemas.openxmlformats.org/officeDocument/2006/relationships" id="268" r:id="R9963f00474804cf3"/>
    <p:sldId xmlns:r="http://schemas.openxmlformats.org/officeDocument/2006/relationships" id="269" r:id="R954f7e5e2ad4479c"/>
    <p:sldId xmlns:r="http://schemas.openxmlformats.org/officeDocument/2006/relationships" id="270" r:id="R9a315d6e2c9c4d85"/>
    <p:sldId xmlns:r="http://schemas.openxmlformats.org/officeDocument/2006/relationships" id="271" r:id="R7160946affb740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291bc11f1b4cc5" /><Relationship Type="http://schemas.openxmlformats.org/officeDocument/2006/relationships/slideMaster" Target="/ppt/slideMasters/slideMaster1.xml" Id="R3a64fd74112f41ae" /><Relationship Type="http://schemas.openxmlformats.org/officeDocument/2006/relationships/notesMaster" Target="/ppt/notesMasters/notesMaster1.xml" Id="R8b8ad579b16f4c81" /><Relationship Type="http://schemas.openxmlformats.org/officeDocument/2006/relationships/presProps" Target="/ppt/presProps.xml" Id="R578202162427448c" /><Relationship Type="http://schemas.openxmlformats.org/officeDocument/2006/relationships/viewProps" Target="/ppt/viewProps.xml" Id="Rf4f7ecf7299149e6" /><Relationship Type="http://schemas.openxmlformats.org/officeDocument/2006/relationships/tableStyles" Target="/ppt/tableStyles.xml" Id="R463a662e2af94896" /><Relationship Type="http://schemas.openxmlformats.org/officeDocument/2006/relationships/slide" Target="/ppt/slides/slide1.xml" Id="Rb21654094074457f" /><Relationship Type="http://schemas.openxmlformats.org/officeDocument/2006/relationships/slide" Target="/ppt/slides/slide2.xml" Id="R030a7e4c4c6d4609" /><Relationship Type="http://schemas.openxmlformats.org/officeDocument/2006/relationships/slide" Target="/ppt/slides/slide3.xml" Id="R70eae9662d114da3" /><Relationship Type="http://schemas.openxmlformats.org/officeDocument/2006/relationships/slide" Target="/ppt/slides/slide4.xml" Id="Rbaf7fbbf016f47dd" /><Relationship Type="http://schemas.openxmlformats.org/officeDocument/2006/relationships/slide" Target="/ppt/slides/slide5.xml" Id="R8aa974c12c2243c1" /><Relationship Type="http://schemas.openxmlformats.org/officeDocument/2006/relationships/slide" Target="/ppt/slides/slide6.xml" Id="R7e75f20098584cc6" /><Relationship Type="http://schemas.openxmlformats.org/officeDocument/2006/relationships/slide" Target="/ppt/slides/slide7.xml" Id="Rd2bcbd49ad1b4d11" /><Relationship Type="http://schemas.openxmlformats.org/officeDocument/2006/relationships/slide" Target="/ppt/slides/slide8.xml" Id="R2df4077a859e4d99" /><Relationship Type="http://schemas.openxmlformats.org/officeDocument/2006/relationships/slide" Target="/ppt/slides/slide9.xml" Id="Rddda54eb94634cbb" /><Relationship Type="http://schemas.openxmlformats.org/officeDocument/2006/relationships/slide" Target="/ppt/slides/slide10.xml" Id="R56110a28ac9041c9" /><Relationship Type="http://schemas.openxmlformats.org/officeDocument/2006/relationships/slide" Target="/ppt/slides/slide11.xml" Id="Rf643d27457994ea2" /><Relationship Type="http://schemas.openxmlformats.org/officeDocument/2006/relationships/slide" Target="/ppt/slides/slide12.xml" Id="R89e2d20e405842e5" /><Relationship Type="http://schemas.openxmlformats.org/officeDocument/2006/relationships/slide" Target="/ppt/slides/slide13.xml" Id="R9963f00474804cf3" /><Relationship Type="http://schemas.openxmlformats.org/officeDocument/2006/relationships/slide" Target="/ppt/slides/slide14.xml" Id="R954f7e5e2ad4479c" /><Relationship Type="http://schemas.openxmlformats.org/officeDocument/2006/relationships/slide" Target="/ppt/slides/slide15.xml" Id="R9a315d6e2c9c4d85" /><Relationship Type="http://schemas.openxmlformats.org/officeDocument/2006/relationships/slide" Target="/ppt/slides/slide16.xml" Id="R7160946affb740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48e31176db4e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a89566cfcb45fb" /><Relationship Type="http://schemas.openxmlformats.org/officeDocument/2006/relationships/notesMaster" Target="/ppt/notesMasters/notesMaster1.xml" Id="R0110c337e39147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e08ca3c8b24a55" /><Relationship Type="http://schemas.openxmlformats.org/officeDocument/2006/relationships/notesMaster" Target="/ppt/notesMasters/notesMaster1.xml" Id="Ra88148d03d674a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4107cd0bd3402e" /><Relationship Type="http://schemas.openxmlformats.org/officeDocument/2006/relationships/notesMaster" Target="/ppt/notesMasters/notesMaster1.xml" Id="R51281d6e2a1e42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bfe258e2be4523" /><Relationship Type="http://schemas.openxmlformats.org/officeDocument/2006/relationships/notesMaster" Target="/ppt/notesMasters/notesMaster1.xml" Id="Rfa7883d42fe249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328ad43f174dbb" /><Relationship Type="http://schemas.openxmlformats.org/officeDocument/2006/relationships/notesMaster" Target="/ppt/notesMasters/notesMaster1.xml" Id="R5f326f86b4b549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63fa43672740a6" /><Relationship Type="http://schemas.openxmlformats.org/officeDocument/2006/relationships/notesMaster" Target="/ppt/notesMasters/notesMaster1.xml" Id="Rd316825b5f9745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2c905f09254a9c" /><Relationship Type="http://schemas.openxmlformats.org/officeDocument/2006/relationships/notesMaster" Target="/ppt/notesMasters/notesMaster1.xml" Id="Ra494ce47d51247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973df88b3b41a7" /><Relationship Type="http://schemas.openxmlformats.org/officeDocument/2006/relationships/notesMaster" Target="/ppt/notesMasters/notesMaster1.xml" Id="R8dda8241acde41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d6c64085ce499a" /><Relationship Type="http://schemas.openxmlformats.org/officeDocument/2006/relationships/notesMaster" Target="/ppt/notesMasters/notesMaster1.xml" Id="R48a52106c9dc49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7c669a4ed348e1" /><Relationship Type="http://schemas.openxmlformats.org/officeDocument/2006/relationships/notesMaster" Target="/ppt/notesMasters/notesMaster1.xml" Id="R5d45793a1e964f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1eef6b59ee4012" /><Relationship Type="http://schemas.openxmlformats.org/officeDocument/2006/relationships/notesMaster" Target="/ppt/notesMasters/notesMaster1.xml" Id="R05c8336d583343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c1071cfb9a45e6" /><Relationship Type="http://schemas.openxmlformats.org/officeDocument/2006/relationships/notesMaster" Target="/ppt/notesMasters/notesMaster1.xml" Id="Ra759574da1f04fd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d992eb7c784532" /><Relationship Type="http://schemas.openxmlformats.org/officeDocument/2006/relationships/notesMaster" Target="/ppt/notesMasters/notesMaster1.xml" Id="R2562c01ed72f47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03c31026f24d8e" /><Relationship Type="http://schemas.openxmlformats.org/officeDocument/2006/relationships/notesMaster" Target="/ppt/notesMasters/notesMaster1.xml" Id="Rcc35ad6cfaac4cd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d3c000ff934591" /><Relationship Type="http://schemas.openxmlformats.org/officeDocument/2006/relationships/notesMaster" Target="/ppt/notesMasters/notesMaster1.xml" Id="Rb48e35adabcd456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3092382d3da4d70" /><Relationship Type="http://schemas.openxmlformats.org/officeDocument/2006/relationships/notesMaster" Target="/ppt/notesMasters/notesMaster1.xml" Id="R53a89ddce9144f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 관광데이터 활용 공모전 ① 웹·앱 개발 부문 기능설명서.</a:t>
            </a:r>
          </a:p>
          <a:p xmlns:a="http://schemas.openxmlformats.org/drawingml/2006/main">
            <a:r>
              <a:t>운영 서비스: https://gunbeon.gangwon.kr</a:t>
            </a:r>
          </a:p>
          <a:p xmlns:a="http://schemas.openxmlformats.org/drawingml/2006/main">
            <a:r>
              <a:t>자료 근거: https://github.com/MySonIsSoldier/gunbeon-yeojido/tree/master/docs/submission/2026-round1</a:t>
            </a:r>
          </a:p>
          <a:p xmlns:a="http://schemas.openxmlformats.org/drawingml/2006/main">
            <a:r>
              <a:t>사진 출처: ⓒ한국관광공사. 개별 외부 사진의 출처 및 이용조건은 동봉 IMAGE-SOURCES.md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예선 제안서의 장병·가족 제한시간 관광 문제를 현재 구현 범위로 정리. 실제 군번·휴가증·작전·근무 정보나 GPS 자동 수집은 하지 않음.</a:t>
            </a:r>
          </a:p>
          <a:p xmlns:a="http://schemas.openxmlformats.org/drawingml/2006/main">
            <a:r>
              <a:t>운영 서비스: https://gunbeon.gangwon.kr</a:t>
            </a:r>
          </a:p>
          <a:p xmlns:a="http://schemas.openxmlformats.org/drawingml/2006/main">
            <a:r>
              <a:t>자료 근거: https://github.com/MySonIsSoldier/gunbeon-yeojido/tree/master/docs/submission/2026-round1</a:t>
            </a:r>
          </a:p>
          <a:p xmlns:a="http://schemas.openxmlformats.org/drawingml/2006/main">
            <a:r>
              <a:t>사진 출처: ⓒ한국관광공사. 개별 외부 사진의 출처 및 이용조건은 동봉 IMAGE-SOURCES.md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기능은 5개. 상세 흐름도에서 같은 명칭을 사용하며 복잡한 기능만 두 쪽으로 나눔.</a:t>
            </a:r>
          </a:p>
          <a:p xmlns:a="http://schemas.openxmlformats.org/drawingml/2006/main">
            <a:r>
              <a:t>운영 서비스: https://gunbeon.gangwon.kr</a:t>
            </a:r>
          </a:p>
          <a:p xmlns:a="http://schemas.openxmlformats.org/drawingml/2006/main">
            <a:r>
              <a:t>자료 근거: https://github.com/MySonIsSoldier/gunbeon-yeojido/tree/master/docs/submission/2026-round1</a:t>
            </a:r>
          </a:p>
          <a:p xmlns:a="http://schemas.openxmlformats.org/drawingml/2006/main">
            <a:r>
              <a:t>사진 출처: ⓒ한국관광공사. 개별 외부 사진의 출처 및 이용조건은 동봉 IMAGE-SOURCES.md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대표 로고 B 다시 만나는 길. 실제 화면 3개: 일정표, 여유 비교, 공개 제안. 모두 운영 UI이며 예시 여행은 기능 확인용. 사진: ⓒ한국관광공사.</a:t>
            </a:r>
          </a:p>
          <a:p xmlns:a="http://schemas.openxmlformats.org/drawingml/2006/main">
            <a:r>
              <a:t>운영 서비스: https://gunbeon.gangwon.kr</a:t>
            </a:r>
          </a:p>
          <a:p xmlns:a="http://schemas.openxmlformats.org/drawingml/2006/main">
            <a:r>
              <a:t>자료 근거: https://github.com/MySonIsSoldier/gunbeon-yeojido/tree/master/docs/submission/2026-round1</a:t>
            </a:r>
          </a:p>
          <a:p xmlns:a="http://schemas.openxmlformats.org/drawingml/2006/main">
            <a:r>
              <a:t>사진 출처: ⓒ한국관광공사. 개별 외부 사진의 출처 및 이용조건은 동봉 IMAGE-SOURCES.md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특화 광역은 강원특별자치도 하나. 장소 운영·예약 조건 확인 근거는 place-verification.md. 현장 사용 성과나 기관 협약이 체결되었다고 주장하지 않음.</a:t>
            </a:r>
          </a:p>
          <a:p xmlns:a="http://schemas.openxmlformats.org/drawingml/2006/main">
            <a:r>
              <a:t>운영 서비스: https://gunbeon.gangwon.kr</a:t>
            </a:r>
          </a:p>
          <a:p xmlns:a="http://schemas.openxmlformats.org/drawingml/2006/main">
            <a:r>
              <a:t>자료 근거: https://github.com/MySonIsSoldier/gunbeon-yeojido/tree/master/docs/submission/2026-round1</a:t>
            </a:r>
          </a:p>
          <a:p xmlns:a="http://schemas.openxmlformats.org/drawingml/2006/main">
            <a:r>
              <a:t>사진 출처: ⓒ한국관광공사. 개별 외부 사진의 출처 및 이용조건은 동봉 IMAGE-SOURCES.md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KorService2/searchKeyword2 실응답 검색 화면. 직접 입력 장소는 개인 일정용이며 공개 한 수에서 제외.</a:t>
            </a:r>
          </a:p>
          <a:p xmlns:a="http://schemas.openxmlformats.org/drawingml/2006/main">
            <a:r>
              <a:t>운영 서비스: https://gunbeon.gangwon.kr</a:t>
            </a:r>
          </a:p>
          <a:p xmlns:a="http://schemas.openxmlformats.org/drawingml/2006/main">
            <a:r>
              <a:t>자료 근거: https://github.com/MySonIsSoldier/gunbeon-yeojido/tree/master/docs/submission/2026-round1</a:t>
            </a:r>
          </a:p>
          <a:p xmlns:a="http://schemas.openxmlformats.org/drawingml/2006/main">
            <a:r>
              <a:t>사진 출처: ⓒ한국관광공사. 개별 외부 사진의 출처 및 이용조건은 동봉 IMAGE-SOURCES.md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조건은 여행별 Entry.plan.conditions에 저장. 빈 일정 저장 가능. 계획 탐색은 현재 시각 기준이 아니며 현재 출타만 현재 시각 사용.</a:t>
            </a:r>
          </a:p>
          <a:p xmlns:a="http://schemas.openxmlformats.org/drawingml/2006/main">
            <a:r>
              <a:t>운영 서비스: https://gunbeon.gangwon.kr</a:t>
            </a:r>
          </a:p>
          <a:p xmlns:a="http://schemas.openxmlformats.org/drawingml/2006/main">
            <a:r>
              <a:t>자료 근거: https://github.com/MySonIsSoldier/gunbeon-yeojido/tree/master/docs/submission/2026-round1</a:t>
            </a:r>
          </a:p>
          <a:p xmlns:a="http://schemas.openxmlformats.org/drawingml/2006/main">
            <a:r>
              <a:t>사진 출처: ⓒ한국관광공사. 개별 외부 사진의 출처 및 이용조건은 동봉 IMAGE-SOURCES.md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 게스트2명의 실제 초대/참여와 공동 일정1개를 촬영. 동일 일정의 개인 사본을 확인하고 임시 그룹만 삭제. 캡처 근거: redesign/meta.json. 초대는 게스트도 코드로 참여할 수 있음. 공동 원본과 개인 사본은 자동 동기화되지 않으며 개인 복귀시각·출타 진행·방문 기록은 그룹에 자동 전송되지 않음.</a:t>
            </a:r>
          </a:p>
          <a:p xmlns:a="http://schemas.openxmlformats.org/drawingml/2006/main">
            <a:r>
              <a:t>운영 서비스: https://gunbeon.gangwon.kr</a:t>
            </a:r>
          </a:p>
          <a:p xmlns:a="http://schemas.openxmlformats.org/drawingml/2006/main">
            <a:r>
              <a:t>자료 근거: https://github.com/MySonIsSoldier/gunbeon-yeojido/tree/master/docs/submission/2026-round1</a:t>
            </a:r>
          </a:p>
          <a:p xmlns:a="http://schemas.openxmlformats.org/drawingml/2006/main">
            <a:r>
              <a:t>사진 출처: ⓒ한국관광공사. 개별 외부 사진의 출처 및 이용조건은 동봉 IMAGE-SOURCES.md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입력값과 거리 기반 이동시간에 따른 참고 추정. 도보 추정은 자체 기본자료이며 TourAPI의 실제 측정값이 아님. 실제 교통·소속 부대 규정은 별도 확인.</a:t>
            </a:r>
          </a:p>
          <a:p xmlns:a="http://schemas.openxmlformats.org/drawingml/2006/main">
            <a:r>
              <a:t>운영 서비스: https://gunbeon.gangwon.kr</a:t>
            </a:r>
          </a:p>
          <a:p xmlns:a="http://schemas.openxmlformats.org/drawingml/2006/main">
            <a:r>
              <a:t>자료 근거: https://github.com/MySonIsSoldier/gunbeon-yeojido/tree/master/docs/submission/2026-round1</a:t>
            </a:r>
          </a:p>
          <a:p xmlns:a="http://schemas.openxmlformats.org/drawingml/2006/main">
            <a:r>
              <a:t>사진 출처: ⓒ한국관광공사. 개별 외부 사진의 출처 및 이용조건은 동봉 IMAGE-SOURCES.md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동일 합성 예시의 추정 비교: +119→+192분(+73분), 도보30→15분. 실제 이동시간 절감 성과가 아님. 06→35→36→37 조정 적용/되돌리기 실검사. 되돌리기는 편집 중 저장 전 적용 가능하며 영구 저장 후 undo를 제공한다고 쓰지 않음.</a:t>
            </a:r>
          </a:p>
          <a:p xmlns:a="http://schemas.openxmlformats.org/drawingml/2006/main">
            <a:r>
              <a:t>운영 서비스: https://gunbeon.gangwon.kr</a:t>
            </a:r>
          </a:p>
          <a:p xmlns:a="http://schemas.openxmlformats.org/drawingml/2006/main">
            <a:r>
              <a:t>자료 근거: https://github.com/MySonIsSoldier/gunbeon-yeojido/tree/master/docs/submission/2026-round1</a:t>
            </a:r>
          </a:p>
          <a:p xmlns:a="http://schemas.openxmlformats.org/drawingml/2006/main">
            <a:r>
              <a:t>사진 출처: ⓒ한국관광공사. 개별 외부 사진의 출처 및 이용조건은 동봉 IMAGE-SOURCES.md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40→41 실제 완료 동작으로 같은 관광지3곳과 입경/복귀/동행3스탬프 저장. 방문 기록은 사용자 확인이며 GPS 인증이 아님. 공유 카드에 개인 복귀 시각·상세 좌표·직접 입력 장소가 포함되지 않음.</a:t>
            </a:r>
          </a:p>
          <a:p xmlns:a="http://schemas.openxmlformats.org/drawingml/2006/main">
            <a:r>
              <a:t>운영 서비스: https://gunbeon.gangwon.kr</a:t>
            </a:r>
          </a:p>
          <a:p xmlns:a="http://schemas.openxmlformats.org/drawingml/2006/main">
            <a:r>
              <a:t>자료 근거: https://github.com/MySonIsSoldier/gunbeon-yeojido/tree/master/docs/submission/2026-round1</a:t>
            </a:r>
          </a:p>
          <a:p xmlns:a="http://schemas.openxmlformats.org/drawingml/2006/main">
            <a:r>
              <a:t>사진 출처: ⓒ한국관광공사. 개별 외부 사진의 출처 및 이용조건은 동봉 IMAGE-SOURCES.md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54→56은 같은 공개 링크. 방문자가 실제 TourAPI 검색으로 삼부연폭포를 선택. 로그인 없이 공개 제안 가능하며 원본 개인 계획을 직접 변경할 수 없음.</a:t>
            </a:r>
          </a:p>
          <a:p xmlns:a="http://schemas.openxmlformats.org/drawingml/2006/main">
            <a:r>
              <a:t>운영 서비스: https://gunbeon.gangwon.kr</a:t>
            </a:r>
          </a:p>
          <a:p xmlns:a="http://schemas.openxmlformats.org/drawingml/2006/main">
            <a:r>
              <a:t>자료 근거: https://github.com/MySonIsSoldier/gunbeon-yeojido/tree/master/docs/submission/2026-round1</a:t>
            </a:r>
          </a:p>
          <a:p xmlns:a="http://schemas.openxmlformats.org/drawingml/2006/main">
            <a:r>
              <a:t>사진 출처: ⓒ한국관광공사. 개별 외부 사진의 출처 및 이용조건은 동봉 IMAGE-SOURCES.md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57→58→59 동일 링크의 실제 제안 검토, 개인 계획 저장, adopt API200 확인. 여행 완료나 현장 방문과 무관한 제안 반영 상태.</a:t>
            </a:r>
          </a:p>
          <a:p xmlns:a="http://schemas.openxmlformats.org/drawingml/2006/main">
            <a:r>
              <a:t>운영 서비스: https://gunbeon.gangwon.kr</a:t>
            </a:r>
          </a:p>
          <a:p xmlns:a="http://schemas.openxmlformats.org/drawingml/2006/main">
            <a:r>
              <a:t>자료 근거: https://github.com/MySonIsSoldier/gunbeon-yeojido/tree/master/docs/submission/2026-round1</a:t>
            </a:r>
          </a:p>
          <a:p xmlns:a="http://schemas.openxmlformats.org/drawingml/2006/main">
            <a:r>
              <a:t>사진 출처: ⓒ한국관광공사. 개별 외부 사진의 출처 및 이용조건은 동봉 IMAGE-SOURCES.md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서비스 수는2개. KorService2:ldongCode2,areaBasedList2,searchKeyword2,detailCommon2,detailIntro2. KorWithService2:ldongCode2,areaBasedList2,detailWithTour2. 국문좌표가 이동추정, 운영·무장애정보는 사용자 방문판단에 쓰임. firstimage 사용, detailImage2는 미사용. 집중률/중심/연관API는 표본검증만 해 실사용목록에서 제외. 증거 reports/qa/submission-2026-09-16/live-api.json. 출처: ⓒ한국관광공사.</a:t>
            </a:r>
          </a:p>
          <a:p xmlns:a="http://schemas.openxmlformats.org/drawingml/2006/main">
            <a:r>
              <a:t>운영 서비스: https://gunbeon.gangwon.kr</a:t>
            </a:r>
          </a:p>
          <a:p xmlns:a="http://schemas.openxmlformats.org/drawingml/2006/main">
            <a:r>
              <a:t>자료 근거: https://github.com/MySonIsSoldier/gunbeon-yeojido/tree/master/docs/submission/2026-round1</a:t>
            </a:r>
          </a:p>
          <a:p xmlns:a="http://schemas.openxmlformats.org/drawingml/2006/main">
            <a:r>
              <a:t>사진 출처: ⓒ한국관광공사. 개별 외부 사진의 출처 및 이용조건은 동봉 IMAGE-SOURCES.md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통일부/보훈 기본자료는 API 성공 응답을 대체한 모의자료가 아니라 출처가 있는 파일·수집 자료. 기상청은 시군청 대표격자8시간 예보; 자동 모든날짜보정 아님. 카카오지도는 위치표시와외부길찾기. 자체 이동추정에 카카오 실시간 교통시간을 쓴다고 주장하지 않음. 새 실제스크린샷 reports/qa/submission-2026-09-16/redesign.</a:t>
            </a:r>
          </a:p>
          <a:p xmlns:a="http://schemas.openxmlformats.org/drawingml/2006/main">
            <a:r>
              <a:t>운영 서비스: https://gunbeon.gangwon.kr</a:t>
            </a:r>
          </a:p>
          <a:p xmlns:a="http://schemas.openxmlformats.org/drawingml/2006/main">
            <a:r>
              <a:t>자료 근거: https://github.com/MySonIsSoldier/gunbeon-yeojido/tree/master/docs/submission/2026-round1</a:t>
            </a:r>
          </a:p>
          <a:p xmlns:a="http://schemas.openxmlformats.org/drawingml/2006/main">
            <a:r>
              <a:t>사진 출처: ⓒ한국관광공사. 개별 외부 사진의 출처 및 이용조건은 동봉 IMAGE-SOURCES.md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발전계획은 향후 검증안. 현재 이용자 증가/관광소비 성과나 확정기관제휴를 의미하지 않음. 초대→공동계획→공개제안→새여행복사→재사용을 관찰하며 성장가설을 검증할 계획.</a:t>
            </a:r>
          </a:p>
          <a:p xmlns:a="http://schemas.openxmlformats.org/drawingml/2006/main">
            <a:r>
              <a:t>운영 서비스: https://gunbeon.gangwon.kr</a:t>
            </a:r>
          </a:p>
          <a:p xmlns:a="http://schemas.openxmlformats.org/drawingml/2006/main">
            <a:r>
              <a:t>자료 근거: https://github.com/MySonIsSoldier/gunbeon-yeojido/tree/master/docs/submission/2026-round1</a:t>
            </a:r>
          </a:p>
          <a:p xmlns:a="http://schemas.openxmlformats.org/drawingml/2006/main">
            <a:r>
              <a:t>사진 출처: ⓒ한국관광공사. 개별 외부 사진의 출처 및 이용조건은 동봉 IMAGE-SOURCES.md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706a4252449f5" /><Relationship Type="http://schemas.openxmlformats.org/officeDocument/2006/relationships/image" Target="/ppt/media/image.png" Id="R7cd227d023c642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18c0f604fa4f1e" /><Relationship Type="http://schemas.openxmlformats.org/officeDocument/2006/relationships/image" Target="/ppt/media/image2.png" Id="Rced6e64dbe3547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1a2450be74c20" /><Relationship Type="http://schemas.openxmlformats.org/officeDocument/2006/relationships/image" Target="/ppt/media/image3.png" Id="Rb16729c1f3f64c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8382ce0e64188" /><Relationship Type="http://schemas.openxmlformats.org/officeDocument/2006/relationships/image" Target="/ppt/media/image4.png" Id="R84cd803c12fc47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46e0807694a64" /><Relationship Type="http://schemas.openxmlformats.org/officeDocument/2006/relationships/image" Target="/ppt/media/image5.png" Id="Rcf707a9434a64d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e0e81bef754407" /><Relationship Type="http://schemas.openxmlformats.org/officeDocument/2006/relationships/image" Target="/ppt/media/image6.png" Id="Raabbaf4cce5d4f2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b74cacb4f44541" /><Relationship Type="http://schemas.openxmlformats.org/officeDocument/2006/relationships/image" Target="/ppt/media/image7.png" Id="Ra1ca8d90d0ca482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f8c230387d43ff" /></Relationships>
</file>

<file path=ppt/slideLayouts/slideLayout1.xml><?xml version="1.0" encoding="utf-8"?>
<p:sldLayout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227d023c642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blank" preserve="1">
  <p:cSld name="서비스 소개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6e64dbe3547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799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blank" preserve="1">
  <p:cSld name="지역 특화 서비스 구현 세부내용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729c1f3f64c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4083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blank" preserve="1">
  <p:cSld name="서비스 핵심 기능별 흐름도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d803c12fc47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438" y="18574"/>
            <a:ext cx="12165123" cy="683942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blank" preserve="1">
  <p:cSld name="데이터 활용(한국관광공사 OpenAPI)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07a9434a64d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2" y="13811"/>
            <a:ext cx="12184175" cy="683037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blank" preserve="1">
  <p:cSld name="데이터 활용(기타)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baf4cce5d4f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5" y="9047"/>
            <a:ext cx="12174649" cy="683990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서비스 차별성&amp;발전계획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a8d90d0ca48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2" y="4284"/>
            <a:ext cx="12184175" cy="684943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B9D5E532-8D07-4836-BA43-17FD07146A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38FB6A-844E-4645-B6B8-D2945F9927BB}" type="datetimeFigureOut">
              <a:t>2026-07-29</a:t>
            </a:fld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948E7C1E-7B10-49DB-8FF2-4AFFF477D1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E20405AD-774A-4C59-B24F-99725D0ABF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32701-68F9-4777-ABB9-C14E97591467}" type="slidenum">
              <a:t>‹#›</a:t>
            </a:fld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10704EB-30AD-429C-ABB2-619442DC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1715" y="256797"/>
            <a:ext cx="2419001" cy="340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F0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bg1"/>
                </a:solidFill>
                <a:latin typeface="Noto Sans KR Medium"/>
                <a:ea typeface="Noto Sans KR Medium"/>
                <a:cs typeface="Noto Sans KR Medium"/>
              </a:rPr>
              <a:t>2026 </a:t>
            </a:r>
            <a:r>
              <a:rPr sz="1400">
                <a:solidFill>
                  <a:schemeClr val="bg1"/>
                </a:solidFill>
                <a:latin typeface="Noto Sans KR Medium"/>
                <a:ea typeface="Noto Sans KR Medium"/>
                <a:cs typeface="Noto Sans KR Medium"/>
              </a:rPr>
              <a:t>관광데이터 활용 공모전</a:t>
            </a:r>
            <a:endParaRPr sz="1400">
              <a:solidFill>
                <a:schemeClr val="bg1"/>
              </a:solidFill>
              <a:latin typeface="Noto Sans KR Medium"/>
              <a:ea typeface="Noto Sans KR Medium"/>
              <a:cs typeface="Noto Sans KR Medium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34C6AD1-D258-495D-A51A-D4A60E49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74929" y="256797"/>
            <a:ext cx="1327264" cy="340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E7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latin typeface="Noto Sans KR Medium"/>
                <a:ea typeface="Noto Sans KR Medium"/>
                <a:cs typeface="Noto Sans KR Medium"/>
              </a:rPr>
              <a:t>웹〮앱 개발 부문</a:t>
            </a:r>
            <a:endParaRPr sz="1400">
              <a:latin typeface="Noto Sans KR Medium"/>
              <a:ea typeface="Noto Sans KR Medium"/>
              <a:cs typeface="Noto Sans KR Medium"/>
            </a:endParaRP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4B22AC2A-ADE9-4209-9325-3143440C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807" y="791993"/>
            <a:ext cx="11812386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d3a6c6d5274c16" /><Relationship Type="http://schemas.openxmlformats.org/officeDocument/2006/relationships/slideLayout" Target="/ppt/slideLayouts/slideLayout1.xml" Id="Ra1567cad2dff4b47" /><Relationship Type="http://schemas.openxmlformats.org/officeDocument/2006/relationships/slideLayout" Target="/ppt/slideLayouts/slideLayout2.xml" Id="Rbb810ad31ec7421a" /><Relationship Type="http://schemas.openxmlformats.org/officeDocument/2006/relationships/slideLayout" Target="/ppt/slideLayouts/slideLayout3.xml" Id="Rf72b1b5733954a68" /><Relationship Type="http://schemas.openxmlformats.org/officeDocument/2006/relationships/slideLayout" Target="/ppt/slideLayouts/slideLayout4.xml" Id="R212f0d111a1946f3" /><Relationship Type="http://schemas.openxmlformats.org/officeDocument/2006/relationships/slideLayout" Target="/ppt/slideLayouts/slideLayout5.xml" Id="R40f28fa3a9654f2b" /><Relationship Type="http://schemas.openxmlformats.org/officeDocument/2006/relationships/slideLayout" Target="/ppt/slideLayouts/slideLayout6.xml" Id="R0d558dd388a945c6" /><Relationship Type="http://schemas.openxmlformats.org/officeDocument/2006/relationships/slideLayout" Target="/ppt/slideLayouts/slideLayout7.xml" Id="R938a6cb3cedc4bac" /><Relationship Type="http://schemas.openxmlformats.org/officeDocument/2006/relationships/slideLayout" Target="/ppt/slideLayouts/slideLayout8.xml" Id="R28d72b03b79d448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CD484719-AE92-4D97-9DCB-07CB8CBD7D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CEF10955-2C58-4CED-8CF7-F75E50D6E7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  <a:endParaRPr/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ABC249C5-8509-4BAF-B40B-DAE4F871770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A38FB6A-844E-4645-B6B8-D2945F9927BB}" type="datetimeFigureOut">
              <a:t>2026-07-29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7E642FD3-ED1A-4E35-87E8-56893DDAE84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15F0E2F-70EE-42DC-8E82-87448F235F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8832701-68F9-4777-ABB9-C14E9759146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567cad2dff4b47"/>
    <p:sldLayoutId xmlns:r="http://schemas.openxmlformats.org/officeDocument/2006/relationships" id="2147483650" r:id="Rbb810ad31ec7421a"/>
    <p:sldLayoutId xmlns:r="http://schemas.openxmlformats.org/officeDocument/2006/relationships" id="2147483651" r:id="Rf72b1b5733954a68"/>
    <p:sldLayoutId xmlns:r="http://schemas.openxmlformats.org/officeDocument/2006/relationships" id="2147483652" r:id="R212f0d111a1946f3"/>
    <p:sldLayoutId xmlns:r="http://schemas.openxmlformats.org/officeDocument/2006/relationships" id="2147483653" r:id="R40f28fa3a9654f2b"/>
    <p:sldLayoutId xmlns:r="http://schemas.openxmlformats.org/officeDocument/2006/relationships" id="2147483654" r:id="R0d558dd388a945c6"/>
    <p:sldLayoutId xmlns:r="http://schemas.openxmlformats.org/officeDocument/2006/relationships" id="2147483655" r:id="R938a6cb3cedc4bac"/>
    <p:sldLayoutId xmlns:r="http://schemas.openxmlformats.org/officeDocument/2006/relationships" id="2147483656" r:id="R28d72b03b79d448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f7af25c7a4595" /><Relationship Type="http://schemas.openxmlformats.org/officeDocument/2006/relationships/notesSlide" Target="/ppt/notesSlides/notesSlide1.xml" Id="R0d7f883ac64747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7b829fe6f248d1" /><Relationship Type="http://schemas.openxmlformats.org/officeDocument/2006/relationships/notesSlide" Target="/ppt/notesSlides/notesSlide2.xml" Id="R97faf1ee98b640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276c7edad243e2" /><Relationship Type="http://schemas.openxmlformats.org/officeDocument/2006/relationships/notesSlide" Target="/ppt/notesSlides/notesSlide3.xml" Id="R46f9c246973249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130499567d4986" /><Relationship Type="http://schemas.openxmlformats.org/officeDocument/2006/relationships/image" Target="/ppt/media/image8.png" Id="Re8b2b8cec8e34170" /><Relationship Type="http://schemas.openxmlformats.org/officeDocument/2006/relationships/image" Target="/ppt/media/image9.png" Id="R91f0aa8ca89c478d" /><Relationship Type="http://schemas.openxmlformats.org/officeDocument/2006/relationships/image" Target="/ppt/media/image10.png" Id="Rc49bfb9342f34c9c" /><Relationship Type="http://schemas.openxmlformats.org/officeDocument/2006/relationships/image" Target="/ppt/media/image11.png" Id="Ref448300547c4931" /><Relationship Type="http://schemas.openxmlformats.org/officeDocument/2006/relationships/notesSlide" Target="/ppt/notesSlides/notesSlide4.xml" Id="R59721c581fdd4c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b762cddda04432d" /><Relationship Type="http://schemas.openxmlformats.org/officeDocument/2006/relationships/notesSlide" Target="/ppt/notesSlides/notesSlide5.xml" Id="Rda913f8c5cc440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063b557461447cf" /><Relationship Type="http://schemas.openxmlformats.org/officeDocument/2006/relationships/image" Target="/ppt/media/image12.png" Id="Rd4a4cabaf6494158" /><Relationship Type="http://schemas.openxmlformats.org/officeDocument/2006/relationships/notesSlide" Target="/ppt/notesSlides/notesSlide6.xml" Id="R6cd6b62350e94c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145ad6d289d478b" /><Relationship Type="http://schemas.openxmlformats.org/officeDocument/2006/relationships/image" Target="/ppt/media/image13.png" Id="Rc2ed4a86e270498c" /><Relationship Type="http://schemas.openxmlformats.org/officeDocument/2006/relationships/image" Target="/ppt/media/image14.png" Id="Rb6e89405a0ff46cb" /><Relationship Type="http://schemas.openxmlformats.org/officeDocument/2006/relationships/notesSlide" Target="/ppt/notesSlides/notesSlide7.xml" Id="R45c48374f6e040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a90d6be22b04c87" /><Relationship Type="http://schemas.openxmlformats.org/officeDocument/2006/relationships/image" Target="/ppt/media/image15.png" Id="R55f644f0c4bc426f" /><Relationship Type="http://schemas.openxmlformats.org/officeDocument/2006/relationships/image" Target="/ppt/media/image16.png" Id="R9913ac4e58b34c3e" /><Relationship Type="http://schemas.openxmlformats.org/officeDocument/2006/relationships/notesSlide" Target="/ppt/notesSlides/notesSlide8.xml" Id="Rb6e9390b46a04d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b29214414254bc1" /><Relationship Type="http://schemas.openxmlformats.org/officeDocument/2006/relationships/image" Target="/ppt/media/image17.png" Id="R0aabb001ed024f8c" /><Relationship Type="http://schemas.openxmlformats.org/officeDocument/2006/relationships/notesSlide" Target="/ppt/notesSlides/notesSlide9.xml" Id="Ra26413c436cf45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8b2c121b50740d5" /><Relationship Type="http://schemas.openxmlformats.org/officeDocument/2006/relationships/image" Target="/ppt/media/image18.png" Id="Rd9ffdd5f2c41430d" /><Relationship Type="http://schemas.openxmlformats.org/officeDocument/2006/relationships/notesSlide" Target="/ppt/notesSlides/notesSlide10.xml" Id="R909f4f196a254b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48ec8a1a0434b21" /><Relationship Type="http://schemas.openxmlformats.org/officeDocument/2006/relationships/image" Target="/ppt/media/image19.png" Id="Rab19abff15dc455f" /><Relationship Type="http://schemas.openxmlformats.org/officeDocument/2006/relationships/image" Target="/ppt/media/image20.png" Id="R74c75ff06f65499f" /><Relationship Type="http://schemas.openxmlformats.org/officeDocument/2006/relationships/notesSlide" Target="/ppt/notesSlides/notesSlide11.xml" Id="R9dc253e1143e4e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89b667bea494643" /><Relationship Type="http://schemas.openxmlformats.org/officeDocument/2006/relationships/image" Target="/ppt/media/image21.png" Id="Rdbbddfb38bd84782" /><Relationship Type="http://schemas.openxmlformats.org/officeDocument/2006/relationships/image" Target="/ppt/media/image22.png" Id="Rf5893661651f4ccf" /><Relationship Type="http://schemas.openxmlformats.org/officeDocument/2006/relationships/notesSlide" Target="/ppt/notesSlides/notesSlide12.xml" Id="R5e3d302e2ecc48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1d59005008b429f" /><Relationship Type="http://schemas.openxmlformats.org/officeDocument/2006/relationships/image" Target="/ppt/media/image23.png" Id="Rc21d9743654d4e18" /><Relationship Type="http://schemas.openxmlformats.org/officeDocument/2006/relationships/image" Target="/ppt/media/image24.png" Id="R9c9d69a1669e4c86" /><Relationship Type="http://schemas.openxmlformats.org/officeDocument/2006/relationships/notesSlide" Target="/ppt/notesSlides/notesSlide13.xml" Id="R7a98e1677e1e43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9e89a11c5724890" /><Relationship Type="http://schemas.openxmlformats.org/officeDocument/2006/relationships/image" Target="/ppt/media/image25.png" Id="R6a4f2cb784e84658" /><Relationship Type="http://schemas.openxmlformats.org/officeDocument/2006/relationships/image" Target="/ppt/media/image26.png" Id="R8349fbfae9ba4506" /><Relationship Type="http://schemas.openxmlformats.org/officeDocument/2006/relationships/notesSlide" Target="/ppt/notesSlides/notesSlide14.xml" Id="Rbdcd5e3a576a43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404e11c584448c" /><Relationship Type="http://schemas.openxmlformats.org/officeDocument/2006/relationships/image" Target="/ppt/media/image27.png" Id="R1dfbb006424b4cb4" /><Relationship Type="http://schemas.openxmlformats.org/officeDocument/2006/relationships/image" Target="/ppt/media/image28.png" Id="R688738f52fa64089" /><Relationship Type="http://schemas.openxmlformats.org/officeDocument/2006/relationships/image" Target="/ppt/media/image29.png" Id="R515b7f32e00b4bfc" /><Relationship Type="http://schemas.openxmlformats.org/officeDocument/2006/relationships/image" Target="/ppt/media/image30.png" Id="R3ec506ad91254f7e" /><Relationship Type="http://schemas.openxmlformats.org/officeDocument/2006/relationships/notesSlide" Target="/ppt/notesSlides/notesSlide15.xml" Id="Rfd997e7f147c45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b5618cd396421b" /><Relationship Type="http://schemas.openxmlformats.org/officeDocument/2006/relationships/notesSlide" Target="/ppt/notesSlides/notesSlide16.xml" Id="Rb9609b0baed74c6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표 5"/>
          <p:cNvGraphicFramePr/>
          <p:nvPr/>
        </p:nvGraphicFramePr>
        <p:xfrm>
          <a:off xmlns:a="http://schemas.openxmlformats.org/drawingml/2006/main" x="527397" y="4563687"/>
          <a:ext xmlns:a="http://schemas.openxmlformats.org/drawingml/2006/main" cx="6712988" cy="111221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569"/>
                <a:gridCol w="4821419"/>
              </a:tblGrid>
              <a:tr h="547792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10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팀 명</a:t>
                      </a:r>
                    </a:p>
                  </a:txBody>
                  <a:tcPr marL="171450" marR="171450" marT="114300" marB="114300" anchor="ctr"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C0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100">
                          <a:solidFill>
                            <a:srgbClr val="22383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우리아들이군인인데</a:t>
                      </a:r>
                    </a:p>
                    <a:p>
                      <a:pPr algn="l"/>
                      <a:r>
                        <a:rPr sz="2100">
                          <a:solidFill>
                            <a:srgbClr val="22383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여행계획을준비했대</a:t>
                      </a:r>
                    </a:p>
                  </a:txBody>
                  <a:tcPr marL="171450" marR="171450" marT="114300" marB="11430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FCEE"/>
                    </a:solidFill>
                  </a:tcPr>
                </a:tc>
              </a:tr>
              <a:tr h="564418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10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서비스 명</a:t>
                      </a:r>
                    </a:p>
                  </a:txBody>
                  <a:tcPr marL="171450" marR="171450" marT="114300" marB="114300" anchor="ctr"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solidFill>
                      <a:srgbClr val="FFAC0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100">
                          <a:solidFill>
                            <a:srgbClr val="22383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군번여지도 강원:</a:t>
                      </a:r>
                    </a:p>
                    <a:p>
                      <a:pPr algn="l"/>
                      <a:r>
                        <a:rPr sz="2100">
                          <a:solidFill>
                            <a:srgbClr val="22383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휴전선 밖 첫 하루</a:t>
                      </a:r>
                    </a:p>
                  </a:txBody>
                  <a:tcPr marL="171450" marR="171450" marT="114300" marB="11430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solidFill>
                      <a:srgbClr val="FFFC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498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서비스명">
            <a:extLst xmlns:a="http://schemas.openxmlformats.org/drawingml/2006/main">
              <a:ext uri="{FF2B5EF4-FFF2-40B4-BE49-F238E27FC236}">
                <a16:creationId xmlns:a16="http://schemas.microsoft.com/office/drawing/2014/main" id="{AFC8C8B4-8809-4993-BBB1-CF0298D7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서비스명</a:t>
            </a:r>
          </a:p>
        </p:txBody>
      </p:sp>
      <p:sp>
        <p:nvSpPr>
          <p:cNvPr id="2" name="군번여지도 강원: 휴전선 밖 첫 하루">
            <a:extLst xmlns:a="http://schemas.openxmlformats.org/drawingml/2006/main">
              <a:ext uri="{FF2B5EF4-FFF2-40B4-BE49-F238E27FC236}">
                <a16:creationId xmlns:a16="http://schemas.microsoft.com/office/drawing/2014/main" id="{E0679A62-4CD6-4F1B-AA81-B41D2CE2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0015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55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군번여지도 강원: 휴전선 밖 첫 하루</a:t>
            </a:r>
          </a:p>
        </p:txBody>
      </p:sp>
      <p:sp>
        <p:nvSpPr>
          <p:cNvPr id="3" name="서비스 유형">
            <a:extLst xmlns:a="http://schemas.openxmlformats.org/drawingml/2006/main">
              <a:ext uri="{FF2B5EF4-FFF2-40B4-BE49-F238E27FC236}">
                <a16:creationId xmlns:a16="http://schemas.microsoft.com/office/drawing/2014/main" id="{72EA6EEC-4290-4519-BD2C-A187878B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38325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서비스 유형</a:t>
            </a:r>
          </a:p>
        </p:txBody>
      </p:sp>
      <p:sp>
        <p:nvSpPr>
          <p:cNvPr id="4" name="웹 서비스 · 모바일 웹/PWA">
            <a:extLst xmlns:a="http://schemas.openxmlformats.org/drawingml/2006/main">
              <a:ext uri="{FF2B5EF4-FFF2-40B4-BE49-F238E27FC236}">
                <a16:creationId xmlns:a16="http://schemas.microsoft.com/office/drawing/2014/main" id="{9BF7CBCC-0BD6-44AA-84B3-A401626B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8117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87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웹 서비스 · 모바일 웹/PWA</a:t>
            </a:r>
          </a:p>
        </p:txBody>
      </p:sp>
      <p:sp>
        <p:nvSpPr>
          <p:cNvPr id="5" name="gunbeon.gangwon.kr">
            <a:extLst xmlns:a="http://schemas.openxmlformats.org/drawingml/2006/main">
              <a:ext uri="{FF2B5EF4-FFF2-40B4-BE49-F238E27FC236}">
                <a16:creationId xmlns:a16="http://schemas.microsoft.com/office/drawing/2014/main" id="{16CDE8E7-E4B2-47B3-B7DD-06977318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192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gunbeon.gangwon.kr</a:t>
            </a:r>
          </a:p>
        </p:txBody>
      </p:sp>
      <p:sp>
        <p:nvSpPr>
          <p:cNvPr id="6" name="section divider">
            <a:extLst xmlns:a="http://schemas.openxmlformats.org/drawingml/2006/main">
              <a:ext uri="{FF2B5EF4-FFF2-40B4-BE49-F238E27FC236}">
                <a16:creationId xmlns:a16="http://schemas.microsoft.com/office/drawing/2014/main" id="{3BC73155-115F-4D50-B10E-BCB9A703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764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1"/>
            </a:solidFill>
          </a:ln>
        </p:spPr>
      </p:sp>
      <p:sp>
        <p:nvSpPr>
          <p:cNvPr id="7" name="서비스 개요">
            <a:extLst xmlns:a="http://schemas.openxmlformats.org/drawingml/2006/main">
              <a:ext uri="{FF2B5EF4-FFF2-40B4-BE49-F238E27FC236}">
                <a16:creationId xmlns:a16="http://schemas.microsoft.com/office/drawing/2014/main" id="{84B22B2D-90E3-4B52-8D87-7E169728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서비스 개요</a:t>
            </a:r>
          </a:p>
        </p:txBody>
      </p:sp>
      <p:sp>
        <p:nvSpPr>
          <p:cNvPr id="8" name="장병과 동행자가 강원 여행을 함께 계획하고, 개인 복귀 기준에 맞춰 일정을 조정하는 모">
            <a:extLst xmlns:a="http://schemas.openxmlformats.org/drawingml/2006/main">
              <a:ext uri="{FF2B5EF4-FFF2-40B4-BE49-F238E27FC236}">
                <a16:creationId xmlns:a16="http://schemas.microsoft.com/office/drawing/2014/main" id="{89E1C522-AB66-4F8E-B4EF-3C3DCBB5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1460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3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장병과 동행자가 강원 여행을 함께 계획하고,</a:t>
            </a:r>
          </a:p>
          <a:p xmlns:a="http://schemas.openxmlformats.org/drawingml/2006/main">
            <a:pPr algn="l">
              <a:defRPr sz="23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3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개인 복귀 기준에 맞춰 일정을 조정하는 모바일 웹 서비스</a:t>
            </a:r>
          </a:p>
        </p:txBody>
      </p:sp>
      <p:sp>
        <p:nvSpPr>
          <p:cNvPr id="9" name="주제 선정 이유">
            <a:extLst xmlns:a="http://schemas.openxmlformats.org/drawingml/2006/main">
              <a:ext uri="{FF2B5EF4-FFF2-40B4-BE49-F238E27FC236}">
                <a16:creationId xmlns:a16="http://schemas.microsoft.com/office/drawing/2014/main" id="{69B4BFEF-A44E-46A3-ADA5-737CB95F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814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주제 선정 이유</a:t>
            </a:r>
          </a:p>
        </p:txBody>
      </p:sp>
      <p:sp>
        <p:nvSpPr>
          <p:cNvPr id="10" name="제한된 출타 시간">
            <a:extLst xmlns:a="http://schemas.openxmlformats.org/drawingml/2006/main">
              <a:ext uri="{FF2B5EF4-FFF2-40B4-BE49-F238E27FC236}">
                <a16:creationId xmlns:a16="http://schemas.microsoft.com/office/drawing/2014/main" id="{DF3C3AFE-7A13-422E-BE0B-AE7014F9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338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제한된 출타 시간</a:t>
            </a:r>
          </a:p>
        </p:txBody>
      </p:sp>
      <p:sp>
        <p:nvSpPr>
          <p:cNvPr id="11" name="이동·체류시간과 복귀 기준을 함께 고려해야 합니다.">
            <a:extLst xmlns:a="http://schemas.openxmlformats.org/drawingml/2006/main">
              <a:ext uri="{FF2B5EF4-FFF2-40B4-BE49-F238E27FC236}">
                <a16:creationId xmlns:a16="http://schemas.microsoft.com/office/drawing/2014/main" id="{64EF8418-B9A8-408C-A1D7-6A70BB8B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86225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이동·체류시간과 복귀 기준을 함께 고려해야 합니다.</a:t>
            </a:r>
          </a:p>
        </p:txBody>
      </p:sp>
      <p:sp>
        <p:nvSpPr>
          <p:cNvPr id="12" name="서로 다른 동행 조건">
            <a:extLst xmlns:a="http://schemas.openxmlformats.org/drawingml/2006/main">
              <a:ext uri="{FF2B5EF4-FFF2-40B4-BE49-F238E27FC236}">
                <a16:creationId xmlns:a16="http://schemas.microsoft.com/office/drawing/2014/main" id="{C69458C1-4748-4E4B-855A-9EED6C22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434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서로 다른 동행 조건</a:t>
            </a:r>
          </a:p>
        </p:txBody>
      </p:sp>
      <p:sp>
        <p:nvSpPr>
          <p:cNvPr id="13" name="부모·연인·친구와 도보 부담과 식사 선호를 조율해야 합니다.">
            <a:extLst xmlns:a="http://schemas.openxmlformats.org/drawingml/2006/main">
              <a:ext uri="{FF2B5EF4-FFF2-40B4-BE49-F238E27FC236}">
                <a16:creationId xmlns:a16="http://schemas.microsoft.com/office/drawing/2014/main" id="{42CF6311-8A8A-4D03-9A24-E70E8BE7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9585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부모·연인·친구와 도보 부담과 식사 선호를 조율해야 합니다.</a:t>
            </a:r>
          </a:p>
        </p:txBody>
      </p:sp>
      <p:sp>
        <p:nvSpPr>
          <p:cNvPr id="14" name="분산된 여행 준비">
            <a:extLst xmlns:a="http://schemas.openxmlformats.org/drawingml/2006/main">
              <a:ext uri="{FF2B5EF4-FFF2-40B4-BE49-F238E27FC236}">
                <a16:creationId xmlns:a16="http://schemas.microsoft.com/office/drawing/2014/main" id="{AFE94ABD-1A5D-4651-972D-14B852CD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53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분산된 여행 준비</a:t>
            </a:r>
          </a:p>
        </p:txBody>
      </p:sp>
      <p:sp>
        <p:nvSpPr>
          <p:cNvPr id="15" name="관광정보 검색, 일정 공유, 장소 추천을 하나의 계획으로 연결합니다.">
            <a:extLst xmlns:a="http://schemas.openxmlformats.org/drawingml/2006/main">
              <a:ext uri="{FF2B5EF4-FFF2-40B4-BE49-F238E27FC236}">
                <a16:creationId xmlns:a16="http://schemas.microsoft.com/office/drawing/2014/main" id="{50C1C700-C330-41B5-825A-61BC8671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705475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관광정보 검색, 일정 공유, 장소 추천을 하나의 계획으로 연결합니다.</a:t>
            </a:r>
          </a:p>
        </p:txBody>
      </p:sp>
      <p:sp>
        <p:nvSpPr>
          <p:cNvPr id="16" name="02">
            <a:extLst xmlns:a="http://schemas.openxmlformats.org/drawingml/2006/main">
              <a:ext uri="{FF2B5EF4-FFF2-40B4-BE49-F238E27FC236}">
                <a16:creationId xmlns:a16="http://schemas.microsoft.com/office/drawing/2014/main" id="{E05F3B6C-2C13-4453-BD02-DC38D151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629400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260009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서비스 핵심기능">
            <a:extLst xmlns:a="http://schemas.openxmlformats.org/drawingml/2006/main">
              <a:ext uri="{FF2B5EF4-FFF2-40B4-BE49-F238E27FC236}">
                <a16:creationId xmlns:a16="http://schemas.microsoft.com/office/drawing/2014/main" id="{F5E9AD2F-8F3D-4F9E-BA69-F4D711A7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17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서비스 핵심기능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495300" y="1857375"/>
          <a:ext xmlns:a="http://schemas.openxmlformats.org/drawingml/2006/main" cx="11049000" cy="42386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704850"/>
                <a:gridCol w="3952875"/>
                <a:gridCol w="6391275"/>
              </a:tblGrid>
              <a:tr h="847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175">
                          <a:solidFill>
                            <a:srgbClr val="24656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01</a:t>
                      </a:r>
                    </a:p>
                  </a:txBody>
                  <a:tcPr marL="171450" marR="171450" marT="114300" marB="114300" anchor="ctr">
                    <a:lnB w="7620">
                      <a:solidFill>
                        <a:srgbClr val="D9E2E1"/>
                      </a:solidFill>
                    </a:lnB>
                    <a:lnT w="7620">
                      <a:solidFill>
                        <a:srgbClr val="D9E2E1"/>
                      </a:solidFill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>
                          <a:solidFill>
                            <a:srgbClr val="22383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관광정보 기반 일정 작성</a:t>
                      </a:r>
                    </a:p>
                  </a:txBody>
                  <a:tcPr marL="171450" marR="171450" marT="114300" marB="114300" anchor="ctr">
                    <a:lnB w="7620">
                      <a:solidFill>
                        <a:srgbClr val="D9E2E1"/>
                      </a:solidFill>
                    </a:lnB>
                    <a:lnT w="7620">
                      <a:solidFill>
                        <a:srgbClr val="D9E2E1"/>
                      </a:solidFill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>
                          <a:solidFill>
                            <a:srgbClr val="22383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관광정보 검색·장소 추가·순서와 체류시간 편집</a:t>
                      </a:r>
                    </a:p>
                  </a:txBody>
                  <a:tcPr marL="171450" marR="171450" marT="114300" marB="114300" anchor="ctr">
                    <a:lnB w="7620">
                      <a:solidFill>
                        <a:srgbClr val="D9E2E1"/>
                      </a:solidFill>
                    </a:lnB>
                    <a:lnT w="7620">
                      <a:solidFill>
                        <a:srgbClr val="D9E2E1"/>
                      </a:solidFill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175">
                          <a:solidFill>
                            <a:srgbClr val="24656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02</a:t>
                      </a:r>
                    </a:p>
                  </a:txBody>
                  <a:tcPr marL="171450" marR="171450" marT="114300" marB="114300" anchor="ctr">
                    <a:lnB w="7620">
                      <a:solidFill>
                        <a:srgbClr val="D9E2E1"/>
                      </a:solidFill>
                    </a:lnB>
                    <a:lnT w="7620">
                      <a:noFill/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>
                          <a:solidFill>
                            <a:srgbClr val="22383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동행 그룹 공동 계획</a:t>
                      </a:r>
                    </a:p>
                  </a:txBody>
                  <a:tcPr marL="171450" marR="171450" marT="114300" marB="114300" anchor="ctr">
                    <a:lnB w="7620">
                      <a:solidFill>
                        <a:srgbClr val="D9E2E1"/>
                      </a:solidFill>
                    </a:lnB>
                    <a:lnT w="7620">
                      <a:noFill/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>
                          <a:solidFill>
                            <a:srgbClr val="22383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초대코드로 공동 일정을 준비하고 개인 사본으로 가져오기</a:t>
                      </a:r>
                    </a:p>
                  </a:txBody>
                  <a:tcPr marL="171450" marR="171450" marT="114300" marB="114300" anchor="ctr">
                    <a:lnB w="7620">
                      <a:solidFill>
                        <a:srgbClr val="D9E2E1"/>
                      </a:solidFill>
                    </a:lnB>
                    <a:lnT w="7620">
                      <a:noFill/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175">
                          <a:solidFill>
                            <a:srgbClr val="24656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03</a:t>
                      </a:r>
                    </a:p>
                  </a:txBody>
                  <a:tcPr marL="171450" marR="171450" marT="114300" marB="114300" anchor="ctr">
                    <a:lnB w="7620">
                      <a:solidFill>
                        <a:srgbClr val="D9E2E1"/>
                      </a:solidFill>
                    </a:lnB>
                    <a:lnT w="7620">
                      <a:noFill/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>
                          <a:solidFill>
                            <a:srgbClr val="22383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복귀 여유 비교·조정</a:t>
                      </a:r>
                    </a:p>
                  </a:txBody>
                  <a:tcPr marL="171450" marR="171450" marT="114300" marB="114300" anchor="ctr">
                    <a:lnB w="7620">
                      <a:solidFill>
                        <a:srgbClr val="D9E2E1"/>
                      </a:solidFill>
                    </a:lnB>
                    <a:lnT w="7620">
                      <a:noFill/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>
                          <a:solidFill>
                            <a:srgbClr val="22383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장소 생략·체류시간 변경에 따른 복귀 여유와 도보량 비교</a:t>
                      </a:r>
                    </a:p>
                  </a:txBody>
                  <a:tcPr marL="171450" marR="171450" marT="114300" marB="114300" anchor="ctr">
                    <a:lnB w="7620">
                      <a:solidFill>
                        <a:srgbClr val="D9E2E1"/>
                      </a:solidFill>
                    </a:lnB>
                    <a:lnT w="7620">
                      <a:noFill/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175">
                          <a:solidFill>
                            <a:srgbClr val="24656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04</a:t>
                      </a:r>
                    </a:p>
                  </a:txBody>
                  <a:tcPr marL="171450" marR="171450" marT="114300" marB="114300" anchor="ctr">
                    <a:lnB w="7620">
                      <a:solidFill>
                        <a:srgbClr val="D9E2E1"/>
                      </a:solidFill>
                    </a:lnB>
                    <a:lnT w="7620">
                      <a:noFill/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>
                          <a:solidFill>
                            <a:srgbClr val="22383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출타 진행과 여행 기록</a:t>
                      </a:r>
                    </a:p>
                  </a:txBody>
                  <a:tcPr marL="171450" marR="171450" marT="114300" marB="114300" anchor="ctr">
                    <a:lnB w="7620">
                      <a:solidFill>
                        <a:srgbClr val="D9E2E1"/>
                      </a:solidFill>
                    </a:lnB>
                    <a:lnT w="7620">
                      <a:noFill/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>
                          <a:solidFill>
                            <a:srgbClr val="22383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현재 출타 확인·방문 장소 선택·기록 수정과 계획 복원</a:t>
                      </a:r>
                    </a:p>
                  </a:txBody>
                  <a:tcPr marL="171450" marR="171450" marT="114300" marB="114300" anchor="ctr">
                    <a:lnB w="7620">
                      <a:solidFill>
                        <a:srgbClr val="D9E2E1"/>
                      </a:solidFill>
                    </a:lnB>
                    <a:lnT w="7620">
                      <a:noFill/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175">
                          <a:solidFill>
                            <a:srgbClr val="24656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05</a:t>
                      </a:r>
                    </a:p>
                  </a:txBody>
                  <a:tcPr marL="171450" marR="171450" marT="114300" marB="114300" anchor="ctr">
                    <a:lnB w="7620">
                      <a:solidFill>
                        <a:srgbClr val="D9E2E1"/>
                      </a:solidFill>
                    </a:lnB>
                    <a:lnT w="7620">
                      <a:noFill/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950">
                          <a:solidFill>
                            <a:srgbClr val="22383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공개 장소 제안과 일정 반영</a:t>
                      </a:r>
                    </a:p>
                  </a:txBody>
                  <a:tcPr marL="171450" marR="171450" marT="114300" marB="114300" anchor="ctr">
                    <a:lnB w="7620">
                      <a:solidFill>
                        <a:srgbClr val="D9E2E1"/>
                      </a:solidFill>
                    </a:lnB>
                    <a:lnT w="7620">
                      <a:noFill/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725">
                          <a:solidFill>
                            <a:srgbClr val="22383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관광지별 추가·교체·생략 제안을 검토해 실제 일정에 반영</a:t>
                      </a:r>
                    </a:p>
                  </a:txBody>
                  <a:tcPr marL="171450" marR="171450" marT="114300" marB="114300" anchor="ctr">
                    <a:lnB w="7620">
                      <a:solidFill>
                        <a:srgbClr val="D9E2E1"/>
                      </a:solidFill>
                    </a:lnB>
                    <a:lnT w="7620">
                      <a:noFill/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ED58BB44-6E7B-49F8-8CEA-A25AE6B4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629400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0986881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서비스 대표 이미지">
            <a:extLst xmlns:a="http://schemas.openxmlformats.org/drawingml/2006/main">
              <a:ext uri="{FF2B5EF4-FFF2-40B4-BE49-F238E27FC236}">
                <a16:creationId xmlns:a16="http://schemas.microsoft.com/office/drawing/2014/main" id="{CF62A3C2-C540-441F-B44A-F0C1E904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96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서비스 대표 이미지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2b8cec8e34170"/>
          <a:stretch xmlns:a="http://schemas.openxmlformats.org/drawingml/2006/main"/>
        </p:blipFill>
        <p:spPr>
          <a:xfrm xmlns:a="http://schemas.openxmlformats.org/drawingml/2006/main">
            <a:off x="495300" y="1829395"/>
            <a:ext cx="2809875" cy="1475184"/>
          </a:xfrm>
          <a:prstGeom xmlns:a="http://schemas.openxmlformats.org/drawingml/2006/main" prst="rect">
            <a:avLst/>
          </a:prstGeom>
        </p:spPr>
      </p:pic>
      <p:sp>
        <p:nvSpPr>
          <p:cNvPr id="3" name="군번여지도 강원">
            <a:extLst xmlns:a="http://schemas.openxmlformats.org/drawingml/2006/main">
              <a:ext uri="{FF2B5EF4-FFF2-40B4-BE49-F238E27FC236}">
                <a16:creationId xmlns:a16="http://schemas.microsoft.com/office/drawing/2014/main" id="{1E0E13DE-6760-492D-A118-7343EAF4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1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군번여지도 강원</a:t>
            </a:r>
          </a:p>
        </p:txBody>
      </p:sp>
      <p:sp>
        <p:nvSpPr>
          <p:cNvPr id="4" name="장병·가족·연인·친구의 강원 여행 계획">
            <a:extLst xmlns:a="http://schemas.openxmlformats.org/drawingml/2006/main">
              <a:ext uri="{FF2B5EF4-FFF2-40B4-BE49-F238E27FC236}">
                <a16:creationId xmlns:a16="http://schemas.microsoft.com/office/drawing/2014/main" id="{50A8C44A-E932-4B1B-B0E5-85F4CB55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195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95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장병·가족·연인·친구의</a:t>
            </a:r>
          </a:p>
          <a:p xmlns:a="http://schemas.openxmlformats.org/drawingml/2006/main">
            <a:pPr algn="l">
              <a:defRPr sz="195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95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강원 여행 계획</a:t>
            </a:r>
          </a:p>
        </p:txBody>
      </p:sp>
      <p:sp>
        <p:nvSpPr>
          <p:cNvPr id="5" name="서비스 상세 이미지">
            <a:extLst xmlns:a="http://schemas.openxmlformats.org/drawingml/2006/main">
              <a:ext uri="{FF2B5EF4-FFF2-40B4-BE49-F238E27FC236}">
                <a16:creationId xmlns:a16="http://schemas.microsoft.com/office/drawing/2014/main" id="{997AAF4D-46A7-44B2-97CA-3921C4BF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20967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서비스 상세 이미지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0aa8ca89c478d"/>
          <a:stretch xmlns:a="http://schemas.openxmlformats.org/drawingml/2006/main"/>
        </p:blipFill>
        <p:spPr>
          <a:xfrm xmlns:a="http://schemas.openxmlformats.org/drawingml/2006/main">
            <a:off x="3992457" y="1714500"/>
            <a:ext cx="2111587" cy="4419600"/>
          </a:xfrm>
          <a:prstGeom xmlns:a="http://schemas.openxmlformats.org/drawingml/2006/main" prst="rect">
            <a:avLst/>
          </a:prstGeom>
        </p:spPr>
      </p:pic>
      <p:sp>
        <p:nvSpPr>
          <p:cNvPr id="7" name="일정 보기">
            <a:extLst xmlns:a="http://schemas.openxmlformats.org/drawingml/2006/main">
              <a:ext uri="{FF2B5EF4-FFF2-40B4-BE49-F238E27FC236}">
                <a16:creationId xmlns:a16="http://schemas.microsoft.com/office/drawing/2014/main" id="{07176B7F-2581-4C3C-A7DE-33C56102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305550"/>
            <a:ext cx="2324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65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일정 보기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bfb9342f34c9c"/>
          <a:stretch xmlns:a="http://schemas.openxmlformats.org/drawingml/2006/main"/>
        </p:blipFill>
        <p:spPr>
          <a:xfrm xmlns:a="http://schemas.openxmlformats.org/drawingml/2006/main">
            <a:off x="6602307" y="1714500"/>
            <a:ext cx="2111587" cy="4419600"/>
          </a:xfrm>
          <a:prstGeom xmlns:a="http://schemas.openxmlformats.org/drawingml/2006/main" prst="rect">
            <a:avLst/>
          </a:prstGeom>
        </p:spPr>
      </p:pic>
      <p:sp>
        <p:nvSpPr>
          <p:cNvPr id="9" name="복귀 여유 비교">
            <a:extLst xmlns:a="http://schemas.openxmlformats.org/drawingml/2006/main">
              <a:ext uri="{FF2B5EF4-FFF2-40B4-BE49-F238E27FC236}">
                <a16:creationId xmlns:a16="http://schemas.microsoft.com/office/drawing/2014/main" id="{92673766-E2E2-485A-9BD6-A7DA3D74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305550"/>
            <a:ext cx="2324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65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복귀 여유 비교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48300547c4931"/>
          <a:stretch xmlns:a="http://schemas.openxmlformats.org/drawingml/2006/main"/>
        </p:blipFill>
        <p:spPr>
          <a:xfrm xmlns:a="http://schemas.openxmlformats.org/drawingml/2006/main">
            <a:off x="9212157" y="1714500"/>
            <a:ext cx="2111587" cy="4419600"/>
          </a:xfrm>
          <a:prstGeom xmlns:a="http://schemas.openxmlformats.org/drawingml/2006/main" prst="rect">
            <a:avLst/>
          </a:prstGeom>
        </p:spPr>
      </p:pic>
      <p:sp>
        <p:nvSpPr>
          <p:cNvPr id="11" name="장소 제안">
            <a:extLst xmlns:a="http://schemas.openxmlformats.org/drawingml/2006/main">
              <a:ext uri="{FF2B5EF4-FFF2-40B4-BE49-F238E27FC236}">
                <a16:creationId xmlns:a16="http://schemas.microsoft.com/office/drawing/2014/main" id="{A26C83B0-55A6-4DD4-9666-90826F4A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305550"/>
            <a:ext cx="2324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65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장소 제안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9AC2257C-7864-4ABB-B25F-BC123A4D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629400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8229692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특화 지역명">
            <a:extLst xmlns:a="http://schemas.openxmlformats.org/drawingml/2006/main">
              <a:ext uri="{FF2B5EF4-FFF2-40B4-BE49-F238E27FC236}">
                <a16:creationId xmlns:a16="http://schemas.microsoft.com/office/drawing/2014/main" id="{A93A63BE-250F-4939-995A-A66DA36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0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특화 지역명</a:t>
            </a:r>
          </a:p>
        </p:txBody>
      </p:sp>
      <p:sp>
        <p:nvSpPr>
          <p:cNvPr id="2" name="강원특별자치도 접경 5군">
            <a:extLst xmlns:a="http://schemas.openxmlformats.org/drawingml/2006/main">
              <a:ext uri="{FF2B5EF4-FFF2-40B4-BE49-F238E27FC236}">
                <a16:creationId xmlns:a16="http://schemas.microsoft.com/office/drawing/2014/main" id="{6EDF0F63-3FA1-4337-AAF2-A47A2F51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1620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55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강원특별자치도 접경 5군</a:t>
            </a:r>
          </a:p>
        </p:txBody>
      </p:sp>
      <p:sp>
        <p:nvSpPr>
          <p:cNvPr id="3" name="철원 · 화천 · 양구 · 인제 · 고성">
            <a:extLst xmlns:a="http://schemas.openxmlformats.org/drawingml/2006/main">
              <a:ext uri="{FF2B5EF4-FFF2-40B4-BE49-F238E27FC236}">
                <a16:creationId xmlns:a16="http://schemas.microsoft.com/office/drawing/2014/main" id="{66088962-9D88-40CB-869E-85AA67D0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240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17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철원 · 화천 · 양구 · 인제 · 고성</a:t>
            </a:r>
          </a:p>
        </p:txBody>
      </p:sp>
      <p:sp>
        <p:nvSpPr>
          <p:cNvPr id="4" name="춘천·속초는 가족 방문과 이동의 관문도시로 활용">
            <a:extLst xmlns:a="http://schemas.openxmlformats.org/drawingml/2006/main">
              <a:ext uri="{FF2B5EF4-FFF2-40B4-BE49-F238E27FC236}">
                <a16:creationId xmlns:a16="http://schemas.microsoft.com/office/drawing/2014/main" id="{CA6E09C9-A8CE-44AC-8934-FAA6161F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57425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춘천·속초는 가족 방문과 이동의 관문도시로 활용</a:t>
            </a:r>
          </a:p>
        </p:txBody>
      </p:sp>
      <p:sp>
        <p:nvSpPr>
          <p:cNvPr id="5" name="section divider">
            <a:extLst xmlns:a="http://schemas.openxmlformats.org/drawingml/2006/main">
              <a:ext uri="{FF2B5EF4-FFF2-40B4-BE49-F238E27FC236}">
                <a16:creationId xmlns:a16="http://schemas.microsoft.com/office/drawing/2014/main" id="{D9AFB7BC-078A-48CF-97D5-367525C5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03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1"/>
            </a:solidFill>
          </a:ln>
        </p:spPr>
      </p:sp>
      <p:sp>
        <p:nvSpPr>
          <p:cNvPr id="6" name="구현 내용">
            <a:extLst xmlns:a="http://schemas.openxmlformats.org/drawingml/2006/main">
              <a:ext uri="{FF2B5EF4-FFF2-40B4-BE49-F238E27FC236}">
                <a16:creationId xmlns:a16="http://schemas.microsoft.com/office/drawing/2014/main" id="{EC4F682B-8C9D-4FF7-A0D1-907494A8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527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0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구현 내용</a:t>
            </a:r>
          </a:p>
        </p:txBody>
      </p:sp>
      <p:sp>
        <p:nvSpPr>
          <p:cNvPr id="7" name="지역별 탐색">
            <a:extLst xmlns:a="http://schemas.openxmlformats.org/drawingml/2006/main">
              <a:ext uri="{FF2B5EF4-FFF2-40B4-BE49-F238E27FC236}">
                <a16:creationId xmlns:a16="http://schemas.microsoft.com/office/drawing/2014/main" id="{E8DBA4E2-6705-44AF-BCDE-2530DA87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67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지역별 탐색</a:t>
            </a:r>
          </a:p>
        </p:txBody>
      </p:sp>
      <p:sp>
        <p:nvSpPr>
          <p:cNvPr id="8" name="접경 5군 추천 코스와 관광공사 장소 검색">
            <a:extLst xmlns:a="http://schemas.openxmlformats.org/drawingml/2006/main">
              <a:ext uri="{FF2B5EF4-FFF2-40B4-BE49-F238E27FC236}">
                <a16:creationId xmlns:a16="http://schemas.microsoft.com/office/drawing/2014/main" id="{8B0C5280-3D70-40FC-B295-BBB89261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67100"/>
            <a:ext cx="857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접경 5군 추천 코스와 관광공사 장소 검색</a:t>
            </a:r>
          </a:p>
        </p:txBody>
      </p:sp>
      <p:sp>
        <p:nvSpPr>
          <p:cNvPr id="9" name="방문 준비">
            <a:extLst xmlns:a="http://schemas.openxmlformats.org/drawingml/2006/main">
              <a:ext uri="{FF2B5EF4-FFF2-40B4-BE49-F238E27FC236}">
                <a16:creationId xmlns:a16="http://schemas.microsoft.com/office/drawing/2014/main" id="{E70810A0-8C1D-4BBC-93B1-277EA3BC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624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방문 준비</a:t>
            </a:r>
          </a:p>
        </p:txBody>
      </p:sp>
      <p:sp>
        <p:nvSpPr>
          <p:cNvPr id="10" name="운영·예약·편의시설 정보를 확인하고 일정에 반영">
            <a:extLst xmlns:a="http://schemas.openxmlformats.org/drawingml/2006/main">
              <a:ext uri="{FF2B5EF4-FFF2-40B4-BE49-F238E27FC236}">
                <a16:creationId xmlns:a16="http://schemas.microsoft.com/office/drawing/2014/main" id="{F7B334B0-1044-4956-9725-831A3A1C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62450"/>
            <a:ext cx="857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운영·예약·편의시설 정보를 확인하고 일정에 반영</a:t>
            </a:r>
          </a:p>
        </p:txBody>
      </p:sp>
      <p:sp>
        <p:nvSpPr>
          <p:cNvPr id="11" name="반복 방문">
            <a:extLst xmlns:a="http://schemas.openxmlformats.org/drawingml/2006/main">
              <a:ext uri="{FF2B5EF4-FFF2-40B4-BE49-F238E27FC236}">
                <a16:creationId xmlns:a16="http://schemas.microsoft.com/office/drawing/2014/main" id="{E7FB7278-A22C-47A5-8C42-CE379B69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57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반복 방문</a:t>
            </a:r>
          </a:p>
        </p:txBody>
      </p:sp>
      <p:sp>
        <p:nvSpPr>
          <p:cNvPr id="12" name="동행 그룹의 여러 여행과 강원 5개 장의 방문 기록">
            <a:extLst xmlns:a="http://schemas.openxmlformats.org/drawingml/2006/main">
              <a:ext uri="{FF2B5EF4-FFF2-40B4-BE49-F238E27FC236}">
                <a16:creationId xmlns:a16="http://schemas.microsoft.com/office/drawing/2014/main" id="{B71CC10D-C141-434D-8AA0-5280A288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57800"/>
            <a:ext cx="857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동행 그룹의 여러 여행과 강원 5개 장의 방문 기록</a:t>
            </a:r>
          </a:p>
        </p:txBody>
      </p:sp>
      <p:sp>
        <p:nvSpPr>
          <p:cNvPr id="13" name="대표 여행">
            <a:extLst xmlns:a="http://schemas.openxmlformats.org/drawingml/2006/main">
              <a:ext uri="{FF2B5EF4-FFF2-40B4-BE49-F238E27FC236}">
                <a16:creationId xmlns:a16="http://schemas.microsoft.com/office/drawing/2014/main" id="{4ADA53D0-AEA9-4AA6-B988-42ACA604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62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0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대표 여행</a:t>
            </a:r>
          </a:p>
        </p:txBody>
      </p:sp>
      <p:sp>
        <p:nvSpPr>
          <p:cNvPr id="14" name="철원: 고석정·호국 장소·식사    /    고성: 왕곡마을·송지호">
            <a:extLst xmlns:a="http://schemas.openxmlformats.org/drawingml/2006/main">
              <a:ext uri="{FF2B5EF4-FFF2-40B4-BE49-F238E27FC236}">
                <a16:creationId xmlns:a16="http://schemas.microsoft.com/office/drawing/2014/main" id="{77941DF9-D751-4C87-ABDC-9BC9F2DC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905500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철원: 고석정·호국 장소·식사    /    고성: 왕곡마을·송지호</a:t>
            </a:r>
          </a:p>
        </p:txBody>
      </p:sp>
      <p:sp>
        <p:nvSpPr>
          <p:cNvPr id="15" name="05">
            <a:extLst xmlns:a="http://schemas.openxmlformats.org/drawingml/2006/main">
              <a:ext uri="{FF2B5EF4-FFF2-40B4-BE49-F238E27FC236}">
                <a16:creationId xmlns:a16="http://schemas.microsoft.com/office/drawing/2014/main" id="{3C6F903A-856A-4D7D-9BAF-6D33CE84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629400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92526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핵심 기능 01">
            <a:extLst xmlns:a="http://schemas.openxmlformats.org/drawingml/2006/main">
              <a:ext uri="{FF2B5EF4-FFF2-40B4-BE49-F238E27FC236}">
                <a16:creationId xmlns:a16="http://schemas.microsoft.com/office/drawing/2014/main" id="{B41D86D5-C0DD-43C8-86DE-FD8D37B5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핵심 기능 01</a:t>
            </a:r>
          </a:p>
        </p:txBody>
      </p:sp>
      <p:sp>
        <p:nvSpPr>
          <p:cNvPr id="2" name="관광정보 기반 일정 작성">
            <a:extLst xmlns:a="http://schemas.openxmlformats.org/drawingml/2006/main">
              <a:ext uri="{FF2B5EF4-FFF2-40B4-BE49-F238E27FC236}">
                <a16:creationId xmlns:a16="http://schemas.microsoft.com/office/drawing/2014/main" id="{E4BB5A77-BEC4-4B77-8087-5C59FE23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4143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4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관광정보 기반 일정 작성</a:t>
            </a:r>
          </a:p>
        </p:txBody>
      </p:sp>
      <p:sp>
        <p:nvSpPr>
          <p:cNvPr id="3" name="1/2 · 장소 검색과 코스 구성">
            <a:extLst xmlns:a="http://schemas.openxmlformats.org/drawingml/2006/main">
              <a:ext uri="{FF2B5EF4-FFF2-40B4-BE49-F238E27FC236}">
                <a16:creationId xmlns:a16="http://schemas.microsoft.com/office/drawing/2014/main" id="{E4370DFD-99CC-4DCB-B0A5-3E6D479B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395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1/2 · 장소 검색과 코스 구성</a:t>
            </a:r>
          </a:p>
        </p:txBody>
      </p:sp>
      <p:sp>
        <p:nvSpPr>
          <p:cNvPr id="4" name="기능 설명">
            <a:extLst xmlns:a="http://schemas.openxmlformats.org/drawingml/2006/main">
              <a:ext uri="{FF2B5EF4-FFF2-40B4-BE49-F238E27FC236}">
                <a16:creationId xmlns:a16="http://schemas.microsoft.com/office/drawing/2014/main" id="{C150ED20-1375-45F2-8DC1-274D6BBB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기능 설명</a:t>
            </a:r>
          </a:p>
        </p:txBody>
      </p:sp>
      <p:sp>
        <p:nvSpPr>
          <p:cNvPr id="5" name="추천 코스를 가져오거나 빈 일정에서 시작해 관광지·음식점·숙박을 검색하고 추가합니다.">
            <a:extLst xmlns:a="http://schemas.openxmlformats.org/drawingml/2006/main">
              <a:ext uri="{FF2B5EF4-FFF2-40B4-BE49-F238E27FC236}">
                <a16:creationId xmlns:a16="http://schemas.microsoft.com/office/drawing/2014/main" id="{DE752234-A8CE-4879-B0FC-E2DC9515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3981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추천 코스를 가져오거나 빈 일정에서</a:t>
            </a:r>
          </a:p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시작해 관광지·음식점·숙박을</a:t>
            </a:r>
          </a:p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검색하고 추가합니다.</a:t>
            </a:r>
          </a:p>
        </p:txBody>
      </p:sp>
      <p:sp>
        <p:nvSpPr>
          <p:cNvPr id="6" name="기능 흐름도">
            <a:extLst xmlns:a="http://schemas.openxmlformats.org/drawingml/2006/main">
              <a:ext uri="{FF2B5EF4-FFF2-40B4-BE49-F238E27FC236}">
                <a16:creationId xmlns:a16="http://schemas.microsoft.com/office/drawing/2014/main" id="{3018BDB5-7E34-4E97-AEBC-4388DC76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기능 흐름도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70FD0275-433A-4C4C-872E-929A83CB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291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8" name="출발 권역 선택">
            <a:extLst xmlns:a="http://schemas.openxmlformats.org/drawingml/2006/main">
              <a:ext uri="{FF2B5EF4-FFF2-40B4-BE49-F238E27FC236}">
                <a16:creationId xmlns:a16="http://schemas.microsoft.com/office/drawing/2014/main" id="{F0600983-EB9B-42AE-B4FB-1C9AF3FB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출발 권역 선택</a:t>
            </a:r>
          </a:p>
        </p:txBody>
      </p:sp>
      <p:sp>
        <p:nvSpPr>
          <p:cNvPr id="9" name="강원 7개 권역에서 장소 탐색">
            <a:extLst xmlns:a="http://schemas.openxmlformats.org/drawingml/2006/main">
              <a:ext uri="{FF2B5EF4-FFF2-40B4-BE49-F238E27FC236}">
                <a16:creationId xmlns:a16="http://schemas.microsoft.com/office/drawing/2014/main" id="{C844B312-A303-4B29-B003-ABBBAD3A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강원 7개 권역에서 장소 탐색</a:t>
            </a:r>
          </a:p>
        </p:txBody>
      </p:sp>
      <p:sp>
        <p:nvSpPr>
          <p:cNvPr id="10" name="↓">
            <a:extLst xmlns:a="http://schemas.openxmlformats.org/drawingml/2006/main">
              <a:ext uri="{FF2B5EF4-FFF2-40B4-BE49-F238E27FC236}">
                <a16:creationId xmlns:a16="http://schemas.microsoft.com/office/drawing/2014/main" id="{5D6C039E-3EC7-48CD-904D-D9189539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46568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46568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9E7DA971-70F0-451B-AFC3-659CA50B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8635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12" name="관광정보 검색">
            <a:extLst xmlns:a="http://schemas.openxmlformats.org/drawingml/2006/main">
              <a:ext uri="{FF2B5EF4-FFF2-40B4-BE49-F238E27FC236}">
                <a16:creationId xmlns:a16="http://schemas.microsoft.com/office/drawing/2014/main" id="{A680890C-A085-4CC1-A279-56155AD0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관광정보 검색</a:t>
            </a:r>
          </a:p>
        </p:txBody>
      </p:sp>
      <p:sp>
        <p:nvSpPr>
          <p:cNvPr id="13" name="장소명·유형으로 후보 확인">
            <a:extLst xmlns:a="http://schemas.openxmlformats.org/drawingml/2006/main">
              <a:ext uri="{FF2B5EF4-FFF2-40B4-BE49-F238E27FC236}">
                <a16:creationId xmlns:a16="http://schemas.microsoft.com/office/drawing/2014/main" id="{ADEDF51B-3072-43A3-9718-FF5F4E67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006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장소명·유형으로 후보 확인</a:t>
            </a:r>
          </a:p>
        </p:txBody>
      </p:sp>
      <p:sp>
        <p:nvSpPr>
          <p:cNvPr id="14" name="↓">
            <a:extLst xmlns:a="http://schemas.openxmlformats.org/drawingml/2006/main">
              <a:ext uri="{FF2B5EF4-FFF2-40B4-BE49-F238E27FC236}">
                <a16:creationId xmlns:a16="http://schemas.microsoft.com/office/drawing/2014/main" id="{92DEBF91-C45A-41DB-AD5B-1A8C2067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3877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46568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46568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9B37CB78-6E06-4BF0-A8B7-43573435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16" name="일정에 추가">
            <a:extLst xmlns:a="http://schemas.openxmlformats.org/drawingml/2006/main">
              <a:ext uri="{FF2B5EF4-FFF2-40B4-BE49-F238E27FC236}">
                <a16:creationId xmlns:a16="http://schemas.microsoft.com/office/drawing/2014/main" id="{EF02C41B-F90C-46EF-B84A-E6D56DD4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435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일정에 추가</a:t>
            </a:r>
          </a:p>
        </p:txBody>
      </p:sp>
      <p:sp>
        <p:nvSpPr>
          <p:cNvPr id="17" name="직접 입력한 장소도 추가 가능">
            <a:extLst xmlns:a="http://schemas.openxmlformats.org/drawingml/2006/main">
              <a:ext uri="{FF2B5EF4-FFF2-40B4-BE49-F238E27FC236}">
                <a16:creationId xmlns:a16="http://schemas.microsoft.com/office/drawing/2014/main" id="{751DAC29-3F14-4342-AE27-24B9530E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579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직접 입력한 장소도 추가 가능</a:t>
            </a:r>
          </a:p>
        </p:txBody>
      </p:sp>
      <p:sp>
        <p:nvSpPr>
          <p:cNvPr id="18" name="관광정보 검색 · 실제 장소 추가">
            <a:extLst xmlns:a="http://schemas.openxmlformats.org/drawingml/2006/main">
              <a:ext uri="{FF2B5EF4-FFF2-40B4-BE49-F238E27FC236}">
                <a16:creationId xmlns:a16="http://schemas.microsoft.com/office/drawing/2014/main" id="{1980C31B-FA52-4696-A91B-A47885B0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238250"/>
            <a:ext cx="614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관광정보 검색 · 실제 장소 추가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4cabaf6494158"/>
          <a:srcRect xmlns:a="http://schemas.openxmlformats.org/drawingml/2006/main" l="0" t="21900" r="0" b="148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7610" y="1790700"/>
            <a:ext cx="3343029" cy="4429125"/>
          </a:xfrm>
          <a:prstGeom xmlns:a="http://schemas.openxmlformats.org/drawingml/2006/main" prst="rect">
            <a:avLst/>
          </a:prstGeom>
        </p:spPr>
      </p:pic>
      <p:sp>
        <p:nvSpPr>
          <p:cNvPr id="20" name="06">
            <a:extLst xmlns:a="http://schemas.openxmlformats.org/drawingml/2006/main">
              <a:ext uri="{FF2B5EF4-FFF2-40B4-BE49-F238E27FC236}">
                <a16:creationId xmlns:a16="http://schemas.microsoft.com/office/drawing/2014/main" id="{786B4D78-D8DD-4369-82E2-C1D36D39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629400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핵심 기능 01">
            <a:extLst xmlns:a="http://schemas.openxmlformats.org/drawingml/2006/main">
              <a:ext uri="{FF2B5EF4-FFF2-40B4-BE49-F238E27FC236}">
                <a16:creationId xmlns:a16="http://schemas.microsoft.com/office/drawing/2014/main" id="{E0DCCFAD-34D3-45C2-8B5E-E4C5F1F0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핵심 기능 01</a:t>
            </a:r>
          </a:p>
        </p:txBody>
      </p:sp>
      <p:sp>
        <p:nvSpPr>
          <p:cNvPr id="2" name="관광정보 기반 일정 작성">
            <a:extLst xmlns:a="http://schemas.openxmlformats.org/drawingml/2006/main">
              <a:ext uri="{FF2B5EF4-FFF2-40B4-BE49-F238E27FC236}">
                <a16:creationId xmlns:a16="http://schemas.microsoft.com/office/drawing/2014/main" id="{77820905-4480-40CE-94E1-2ED6EA1E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4143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4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관광정보 기반 일정 작성</a:t>
            </a:r>
          </a:p>
        </p:txBody>
      </p:sp>
      <p:sp>
        <p:nvSpPr>
          <p:cNvPr id="3" name="2/2 · 시간표 확인과 일정 편집">
            <a:extLst xmlns:a="http://schemas.openxmlformats.org/drawingml/2006/main">
              <a:ext uri="{FF2B5EF4-FFF2-40B4-BE49-F238E27FC236}">
                <a16:creationId xmlns:a16="http://schemas.microsoft.com/office/drawing/2014/main" id="{BA3CE078-B0A6-4397-8269-44609E68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395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2/2 · 시간표 확인과 일정 편집</a:t>
            </a:r>
          </a:p>
        </p:txBody>
      </p:sp>
      <p:sp>
        <p:nvSpPr>
          <p:cNvPr id="4" name="기능 설명">
            <a:extLst xmlns:a="http://schemas.openxmlformats.org/drawingml/2006/main">
              <a:ext uri="{FF2B5EF4-FFF2-40B4-BE49-F238E27FC236}">
                <a16:creationId xmlns:a16="http://schemas.microsoft.com/office/drawing/2014/main" id="{D9C0BF8E-09F8-4209-91FA-2AAE733E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기능 설명</a:t>
            </a:r>
          </a:p>
        </p:txBody>
      </p:sp>
      <p:sp>
        <p:nvSpPr>
          <p:cNvPr id="5" name="장소의 방문 순서와 머무는 시간을 정하면 일정표에 반영됩니다. 일정 보기와 편집 화면을">
            <a:extLst xmlns:a="http://schemas.openxmlformats.org/drawingml/2006/main">
              <a:ext uri="{FF2B5EF4-FFF2-40B4-BE49-F238E27FC236}">
                <a16:creationId xmlns:a16="http://schemas.microsoft.com/office/drawing/2014/main" id="{27EEE7C4-CC12-4627-8C43-4F462B53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3981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장소의 방문 순서와 머무는 시간을</a:t>
            </a:r>
          </a:p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정하면 일정표에 반영됩니다.</a:t>
            </a:r>
          </a:p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일정 보기와 편집 화면을 구분합니다.</a:t>
            </a:r>
          </a:p>
        </p:txBody>
      </p:sp>
      <p:sp>
        <p:nvSpPr>
          <p:cNvPr id="6" name="기능 흐름도">
            <a:extLst xmlns:a="http://schemas.openxmlformats.org/drawingml/2006/main">
              <a:ext uri="{FF2B5EF4-FFF2-40B4-BE49-F238E27FC236}">
                <a16:creationId xmlns:a16="http://schemas.microsoft.com/office/drawing/2014/main" id="{3B9E72A0-FB39-4F90-893F-74992BDF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기능 흐름도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F4ED3470-6DCC-4188-B70E-5A7784F8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291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8" name="날짜·시간 설정">
            <a:extLst xmlns:a="http://schemas.openxmlformats.org/drawingml/2006/main">
              <a:ext uri="{FF2B5EF4-FFF2-40B4-BE49-F238E27FC236}">
                <a16:creationId xmlns:a16="http://schemas.microsoft.com/office/drawing/2014/main" id="{BDAE2597-9E94-4764-882D-30D32A17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날짜·시간 설정</a:t>
            </a:r>
          </a:p>
        </p:txBody>
      </p:sp>
      <p:sp>
        <p:nvSpPr>
          <p:cNvPr id="9" name="계획 시각을 기준으로 일정 계산">
            <a:extLst xmlns:a="http://schemas.openxmlformats.org/drawingml/2006/main">
              <a:ext uri="{FF2B5EF4-FFF2-40B4-BE49-F238E27FC236}">
                <a16:creationId xmlns:a16="http://schemas.microsoft.com/office/drawing/2014/main" id="{45798360-220E-474B-9384-5A4E8D77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계획 시각을 기준으로 일정 계산</a:t>
            </a:r>
          </a:p>
        </p:txBody>
      </p:sp>
      <p:sp>
        <p:nvSpPr>
          <p:cNvPr id="10" name="↓">
            <a:extLst xmlns:a="http://schemas.openxmlformats.org/drawingml/2006/main">
              <a:ext uri="{FF2B5EF4-FFF2-40B4-BE49-F238E27FC236}">
                <a16:creationId xmlns:a16="http://schemas.microsoft.com/office/drawing/2014/main" id="{776F7D29-D594-4532-B4EF-2796EC62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46568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46568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489E7344-86D1-40E6-BE07-A68E74B6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8635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12" name="장소·체류시간 편집">
            <a:extLst xmlns:a="http://schemas.openxmlformats.org/drawingml/2006/main">
              <a:ext uri="{FF2B5EF4-FFF2-40B4-BE49-F238E27FC236}">
                <a16:creationId xmlns:a16="http://schemas.microsoft.com/office/drawing/2014/main" id="{4972566F-33B3-4991-8602-AF8139CF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장소·체류시간 편집</a:t>
            </a:r>
          </a:p>
        </p:txBody>
      </p:sp>
      <p:sp>
        <p:nvSpPr>
          <p:cNvPr id="13" name="순서를 바꾸고 동행 조건 입력">
            <a:extLst xmlns:a="http://schemas.openxmlformats.org/drawingml/2006/main">
              <a:ext uri="{FF2B5EF4-FFF2-40B4-BE49-F238E27FC236}">
                <a16:creationId xmlns:a16="http://schemas.microsoft.com/office/drawing/2014/main" id="{BBE716A8-F6CE-4C57-BED1-4046C43F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006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순서를 바꾸고 동행 조건 입력</a:t>
            </a:r>
          </a:p>
        </p:txBody>
      </p:sp>
      <p:sp>
        <p:nvSpPr>
          <p:cNvPr id="14" name="↓">
            <a:extLst xmlns:a="http://schemas.openxmlformats.org/drawingml/2006/main">
              <a:ext uri="{FF2B5EF4-FFF2-40B4-BE49-F238E27FC236}">
                <a16:creationId xmlns:a16="http://schemas.microsoft.com/office/drawing/2014/main" id="{0D97C112-5D5D-4364-8C4E-E30BAD90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3877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46568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46568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99F78203-2777-46AA-96F0-3EC42811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16" name="일정표 확인">
            <a:extLst xmlns:a="http://schemas.openxmlformats.org/drawingml/2006/main">
              <a:ext uri="{FF2B5EF4-FFF2-40B4-BE49-F238E27FC236}">
                <a16:creationId xmlns:a16="http://schemas.microsoft.com/office/drawing/2014/main" id="{889261E0-E0E4-4F95-83A1-83DFEE50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435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일정표 확인</a:t>
            </a:r>
          </a:p>
        </p:txBody>
      </p:sp>
      <p:sp>
        <p:nvSpPr>
          <p:cNvPr id="17" name="시간·장소·이동 추정을 한 번에">
            <a:extLst xmlns:a="http://schemas.openxmlformats.org/drawingml/2006/main">
              <a:ext uri="{FF2B5EF4-FFF2-40B4-BE49-F238E27FC236}">
                <a16:creationId xmlns:a16="http://schemas.microsoft.com/office/drawing/2014/main" id="{5D4C0545-9B5D-4D51-81D5-9B279864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579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시간·장소·이동 추정을 한 번에</a:t>
            </a:r>
          </a:p>
        </p:txBody>
      </p:sp>
      <p:sp>
        <p:nvSpPr>
          <p:cNvPr id="18" name="동행 조건 입력">
            <a:extLst xmlns:a="http://schemas.openxmlformats.org/drawingml/2006/main">
              <a:ext uri="{FF2B5EF4-FFF2-40B4-BE49-F238E27FC236}">
                <a16:creationId xmlns:a16="http://schemas.microsoft.com/office/drawing/2014/main" id="{06A524FB-E644-413D-8E7C-AA893651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38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동행 조건 입력</a:t>
            </a:r>
          </a:p>
        </p:txBody>
      </p:sp>
      <p:sp>
        <p:nvSpPr>
          <p:cNvPr id="19" name="저장한 일정 보기">
            <a:extLst xmlns:a="http://schemas.openxmlformats.org/drawingml/2006/main">
              <a:ext uri="{FF2B5EF4-FFF2-40B4-BE49-F238E27FC236}">
                <a16:creationId xmlns:a16="http://schemas.microsoft.com/office/drawing/2014/main" id="{C48815F1-8ACC-4606-BB4D-04AFC1B8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382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저장한 일정 보기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d4a86e270498c"/>
          <a:srcRect xmlns:a="http://schemas.openxmlformats.org/drawingml/2006/main" l="0" t="11600" r="0" b="187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859036"/>
            <a:ext cx="2857500" cy="4168627"/>
          </a:xfrm>
          <a:prstGeom xmlns:a="http://schemas.openxmlformats.org/drawingml/2006/main" prst="rect">
            <a:avLst/>
          </a:prstGeom>
        </p:spPr>
      </p:pic>
      <p:sp>
        <p:nvSpPr>
          <p:cNvPr id="21" name="→">
            <a:extLst xmlns:a="http://schemas.openxmlformats.org/drawingml/2006/main">
              <a:ext uri="{FF2B5EF4-FFF2-40B4-BE49-F238E27FC236}">
                <a16:creationId xmlns:a16="http://schemas.microsoft.com/office/drawing/2014/main" id="{9E789B55-6671-401C-BF26-0B362CD2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71875"/>
            <a:ext cx="41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55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89405a0ff46cb"/>
          <a:stretch xmlns:a="http://schemas.openxmlformats.org/drawingml/2006/main"/>
        </p:blipFill>
        <p:spPr>
          <a:xfrm xmlns:a="http://schemas.openxmlformats.org/drawingml/2006/main">
            <a:off x="8683360" y="1676400"/>
            <a:ext cx="2207154" cy="4619625"/>
          </a:xfrm>
          <a:prstGeom xmlns:a="http://schemas.openxmlformats.org/drawingml/2006/main" prst="rect">
            <a:avLst/>
          </a:prstGeom>
        </p:spPr>
      </p:pic>
      <p:sp>
        <p:nvSpPr>
          <p:cNvPr id="23" name="07">
            <a:extLst xmlns:a="http://schemas.openxmlformats.org/drawingml/2006/main">
              <a:ext uri="{FF2B5EF4-FFF2-40B4-BE49-F238E27FC236}">
                <a16:creationId xmlns:a16="http://schemas.microsoft.com/office/drawing/2014/main" id="{3472F2DD-9249-42B9-B0EE-045B723D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629400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핵심 기능 02">
            <a:extLst xmlns:a="http://schemas.openxmlformats.org/drawingml/2006/main">
              <a:ext uri="{FF2B5EF4-FFF2-40B4-BE49-F238E27FC236}">
                <a16:creationId xmlns:a16="http://schemas.microsoft.com/office/drawing/2014/main" id="{46AC8ED6-B825-4DE2-91AB-E06BA626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핵심 기능 02</a:t>
            </a:r>
          </a:p>
        </p:txBody>
      </p:sp>
      <p:sp>
        <p:nvSpPr>
          <p:cNvPr id="2" name="동행 그룹 공동 계획">
            <a:extLst xmlns:a="http://schemas.openxmlformats.org/drawingml/2006/main">
              <a:ext uri="{FF2B5EF4-FFF2-40B4-BE49-F238E27FC236}">
                <a16:creationId xmlns:a16="http://schemas.microsoft.com/office/drawing/2014/main" id="{A32BB4C6-97DC-4488-AE5F-EE120A4A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4143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4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동행 그룹 공동 계획</a:t>
            </a:r>
          </a:p>
        </p:txBody>
      </p:sp>
      <p:sp>
        <p:nvSpPr>
          <p:cNvPr id="3" name="공동 일정과 개인 복귀 기준 분리">
            <a:extLst xmlns:a="http://schemas.openxmlformats.org/drawingml/2006/main">
              <a:ext uri="{FF2B5EF4-FFF2-40B4-BE49-F238E27FC236}">
                <a16:creationId xmlns:a16="http://schemas.microsoft.com/office/drawing/2014/main" id="{3ED7F2C2-0BCC-47C7-9423-C87513C6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395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공동 일정과 개인 복귀 기준 분리</a:t>
            </a:r>
          </a:p>
        </p:txBody>
      </p:sp>
      <p:sp>
        <p:nvSpPr>
          <p:cNvPr id="4" name="기능 설명">
            <a:extLst xmlns:a="http://schemas.openxmlformats.org/drawingml/2006/main">
              <a:ext uri="{FF2B5EF4-FFF2-40B4-BE49-F238E27FC236}">
                <a16:creationId xmlns:a16="http://schemas.microsoft.com/office/drawing/2014/main" id="{B9B3A6DD-3C6B-43D3-88A8-889FCEC3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기능 설명</a:t>
            </a:r>
          </a:p>
        </p:txBody>
      </p:sp>
      <p:sp>
        <p:nvSpPr>
          <p:cNvPr id="5" name="가족·연인·친구를 초대해 장소와 시간을 함께 정합니다. 복귀 기준은 각자의 개인 여행 ">
            <a:extLst xmlns:a="http://schemas.openxmlformats.org/drawingml/2006/main">
              <a:ext uri="{FF2B5EF4-FFF2-40B4-BE49-F238E27FC236}">
                <a16:creationId xmlns:a16="http://schemas.microsoft.com/office/drawing/2014/main" id="{657909EB-EBA6-4978-A7B5-BDA0D663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3981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가족·연인·친구를 초대해 장소와</a:t>
            </a:r>
          </a:p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시간을 함께 정합니다. 복귀 기준은</a:t>
            </a:r>
          </a:p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각자의 개인 여행 사본에서 설정합니다.</a:t>
            </a:r>
          </a:p>
        </p:txBody>
      </p:sp>
      <p:sp>
        <p:nvSpPr>
          <p:cNvPr id="6" name="기능 흐름도">
            <a:extLst xmlns:a="http://schemas.openxmlformats.org/drawingml/2006/main">
              <a:ext uri="{FF2B5EF4-FFF2-40B4-BE49-F238E27FC236}">
                <a16:creationId xmlns:a16="http://schemas.microsoft.com/office/drawing/2014/main" id="{E7FB1161-6043-4BCC-8644-DBE3FA65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기능 흐름도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01A1B47C-297F-4C1F-99DD-30FDAB90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291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8" name="그룹 만들기·참여">
            <a:extLst xmlns:a="http://schemas.openxmlformats.org/drawingml/2006/main">
              <a:ext uri="{FF2B5EF4-FFF2-40B4-BE49-F238E27FC236}">
                <a16:creationId xmlns:a16="http://schemas.microsoft.com/office/drawing/2014/main" id="{2DB73E15-F922-4423-9781-9D585387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그룹 만들기·참여</a:t>
            </a:r>
          </a:p>
        </p:txBody>
      </p:sp>
      <p:sp>
        <p:nvSpPr>
          <p:cNvPr id="9" name="초대코드로 동행자 연결">
            <a:extLst xmlns:a="http://schemas.openxmlformats.org/drawingml/2006/main">
              <a:ext uri="{FF2B5EF4-FFF2-40B4-BE49-F238E27FC236}">
                <a16:creationId xmlns:a16="http://schemas.microsoft.com/office/drawing/2014/main" id="{A31BA65F-644E-4398-BEA6-774C2BB7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초대코드로 동행자 연결</a:t>
            </a:r>
          </a:p>
        </p:txBody>
      </p:sp>
      <p:sp>
        <p:nvSpPr>
          <p:cNvPr id="10" name="↓">
            <a:extLst xmlns:a="http://schemas.openxmlformats.org/drawingml/2006/main">
              <a:ext uri="{FF2B5EF4-FFF2-40B4-BE49-F238E27FC236}">
                <a16:creationId xmlns:a16="http://schemas.microsoft.com/office/drawing/2014/main" id="{A0C40787-077D-49D2-91EB-94860E86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46568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46568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69792268-C26E-488B-B9E8-89EE1035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8635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12" name="공동 일정 작성">
            <a:extLst xmlns:a="http://schemas.openxmlformats.org/drawingml/2006/main">
              <a:ext uri="{FF2B5EF4-FFF2-40B4-BE49-F238E27FC236}">
                <a16:creationId xmlns:a16="http://schemas.microsoft.com/office/drawing/2014/main" id="{76F429A9-36FA-42DA-9206-EA8A71D1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공동 일정 작성</a:t>
            </a:r>
          </a:p>
        </p:txBody>
      </p:sp>
      <p:sp>
        <p:nvSpPr>
          <p:cNvPr id="13" name="그룹별로 여러 여행 관리">
            <a:extLst xmlns:a="http://schemas.openxmlformats.org/drawingml/2006/main">
              <a:ext uri="{FF2B5EF4-FFF2-40B4-BE49-F238E27FC236}">
                <a16:creationId xmlns:a16="http://schemas.microsoft.com/office/drawing/2014/main" id="{AEC87D3D-1479-4CC9-94F7-671958EC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006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그룹별로 여러 여행 관리</a:t>
            </a:r>
          </a:p>
        </p:txBody>
      </p:sp>
      <p:sp>
        <p:nvSpPr>
          <p:cNvPr id="14" name="↓">
            <a:extLst xmlns:a="http://schemas.openxmlformats.org/drawingml/2006/main">
              <a:ext uri="{FF2B5EF4-FFF2-40B4-BE49-F238E27FC236}">
                <a16:creationId xmlns:a16="http://schemas.microsoft.com/office/drawing/2014/main" id="{958E3D91-1EE4-440F-B10C-CC710728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3877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46568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46568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BACF6BBE-A79B-468B-ADF6-875730EC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16" name="개인 사본 만들기">
            <a:extLst xmlns:a="http://schemas.openxmlformats.org/drawingml/2006/main">
              <a:ext uri="{FF2B5EF4-FFF2-40B4-BE49-F238E27FC236}">
                <a16:creationId xmlns:a16="http://schemas.microsoft.com/office/drawing/2014/main" id="{CB2B524C-6404-4A1E-81E0-C5706568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435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개인 사본 만들기</a:t>
            </a:r>
          </a:p>
        </p:txBody>
      </p:sp>
      <p:sp>
        <p:nvSpPr>
          <p:cNvPr id="17" name="복귀 시각은 개인에게만 표시">
            <a:extLst xmlns:a="http://schemas.openxmlformats.org/drawingml/2006/main">
              <a:ext uri="{FF2B5EF4-FFF2-40B4-BE49-F238E27FC236}">
                <a16:creationId xmlns:a16="http://schemas.microsoft.com/office/drawing/2014/main" id="{FE0557A8-BC09-4602-9633-7BEC5A0B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579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복귀 시각은 개인에게만 표시</a:t>
            </a:r>
          </a:p>
        </p:txBody>
      </p:sp>
      <p:sp>
        <p:nvSpPr>
          <p:cNvPr id="18" name="그룹의 공동 일정">
            <a:extLst xmlns:a="http://schemas.openxmlformats.org/drawingml/2006/main">
              <a:ext uri="{FF2B5EF4-FFF2-40B4-BE49-F238E27FC236}">
                <a16:creationId xmlns:a16="http://schemas.microsoft.com/office/drawing/2014/main" id="{DD645367-FA30-4888-BBB8-C9FAD86B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238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그룹의 공동 일정</a:t>
            </a:r>
          </a:p>
        </p:txBody>
      </p:sp>
      <p:sp>
        <p:nvSpPr>
          <p:cNvPr id="19" name="나의 여행 사본">
            <a:extLst xmlns:a="http://schemas.openxmlformats.org/drawingml/2006/main">
              <a:ext uri="{FF2B5EF4-FFF2-40B4-BE49-F238E27FC236}">
                <a16:creationId xmlns:a16="http://schemas.microsoft.com/office/drawing/2014/main" id="{08B2DB55-035E-4EBF-9C00-76FE7ECF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3825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나의 여행 사본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644f0c4bc426f"/>
          <a:srcRect xmlns:a="http://schemas.openxmlformats.org/drawingml/2006/main" l="0" t="15000" r="0" b="78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4096" y="1676400"/>
            <a:ext cx="2829534" cy="4572000"/>
          </a:xfrm>
          <a:prstGeom xmlns:a="http://schemas.openxmlformats.org/drawingml/2006/main" prst="rect">
            <a:avLst/>
          </a:prstGeom>
        </p:spPr>
      </p:pic>
      <p:sp>
        <p:nvSpPr>
          <p:cNvPr id="21" name="→">
            <a:extLst xmlns:a="http://schemas.openxmlformats.org/drawingml/2006/main">
              <a:ext uri="{FF2B5EF4-FFF2-40B4-BE49-F238E27FC236}">
                <a16:creationId xmlns:a16="http://schemas.microsoft.com/office/drawing/2014/main" id="{FA9B9502-5D5C-4C6A-A803-4D360DE1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5718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55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3ac4e58b34c3e"/>
          <a:srcRect xmlns:a="http://schemas.openxmlformats.org/drawingml/2006/main" l="0" t="42700" r="0" b="11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86775" y="2212888"/>
            <a:ext cx="2990850" cy="3518074"/>
          </a:xfrm>
          <a:prstGeom xmlns:a="http://schemas.openxmlformats.org/drawingml/2006/main" prst="rect">
            <a:avLst/>
          </a:prstGeom>
        </p:spPr>
      </p:pic>
      <p:sp>
        <p:nvSpPr>
          <p:cNvPr id="23" name="08">
            <a:extLst xmlns:a="http://schemas.openxmlformats.org/drawingml/2006/main">
              <a:ext uri="{FF2B5EF4-FFF2-40B4-BE49-F238E27FC236}">
                <a16:creationId xmlns:a16="http://schemas.microsoft.com/office/drawing/2014/main" id="{A0236B3C-8D8E-4AED-9D5B-C356E89E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629400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핵심 기능 03">
            <a:extLst xmlns:a="http://schemas.openxmlformats.org/drawingml/2006/main">
              <a:ext uri="{FF2B5EF4-FFF2-40B4-BE49-F238E27FC236}">
                <a16:creationId xmlns:a16="http://schemas.microsoft.com/office/drawing/2014/main" id="{B12A2B99-1850-411B-8E97-4B611BF2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핵심 기능 03</a:t>
            </a:r>
          </a:p>
        </p:txBody>
      </p:sp>
      <p:sp>
        <p:nvSpPr>
          <p:cNvPr id="2" name="복귀 여유 비교·조정">
            <a:extLst xmlns:a="http://schemas.openxmlformats.org/drawingml/2006/main">
              <a:ext uri="{FF2B5EF4-FFF2-40B4-BE49-F238E27FC236}">
                <a16:creationId xmlns:a16="http://schemas.microsoft.com/office/drawing/2014/main" id="{771BB6D1-EE4E-42E3-809F-14F77686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4143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4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복귀 여유 비교·조정</a:t>
            </a:r>
          </a:p>
        </p:txBody>
      </p:sp>
      <p:sp>
        <p:nvSpPr>
          <p:cNvPr id="3" name="1/2 · 계획 시각과 동행 조건">
            <a:extLst xmlns:a="http://schemas.openxmlformats.org/drawingml/2006/main">
              <a:ext uri="{FF2B5EF4-FFF2-40B4-BE49-F238E27FC236}">
                <a16:creationId xmlns:a16="http://schemas.microsoft.com/office/drawing/2014/main" id="{7F629A8C-78F4-42C1-9601-A073E111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395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1/2 · 계획 시각과 동행 조건</a:t>
            </a:r>
          </a:p>
        </p:txBody>
      </p:sp>
      <p:sp>
        <p:nvSpPr>
          <p:cNvPr id="4" name="기능 설명">
            <a:extLst xmlns:a="http://schemas.openxmlformats.org/drawingml/2006/main">
              <a:ext uri="{FF2B5EF4-FFF2-40B4-BE49-F238E27FC236}">
                <a16:creationId xmlns:a16="http://schemas.microsoft.com/office/drawing/2014/main" id="{C63E5962-1913-4595-94FC-040B63F5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기능 설명</a:t>
            </a:r>
          </a:p>
        </p:txBody>
      </p:sp>
      <p:sp>
        <p:nvSpPr>
          <p:cNvPr id="5" name="출발·복귀 시각, 이동수단과 동행자의 도보 시간을 설정해 여행에 남길 여유를 계산합니다">
            <a:extLst xmlns:a="http://schemas.openxmlformats.org/drawingml/2006/main">
              <a:ext uri="{FF2B5EF4-FFF2-40B4-BE49-F238E27FC236}">
                <a16:creationId xmlns:a16="http://schemas.microsoft.com/office/drawing/2014/main" id="{45F2A38B-B352-406B-8CF7-B59D1CD5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3981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출발·복귀 시각, 이동수단과</a:t>
            </a:r>
          </a:p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동행자의 도보 시간을 설정해</a:t>
            </a:r>
          </a:p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여행에 남길 여유를 계산합니다.</a:t>
            </a:r>
          </a:p>
        </p:txBody>
      </p:sp>
      <p:sp>
        <p:nvSpPr>
          <p:cNvPr id="6" name="기능 흐름도">
            <a:extLst xmlns:a="http://schemas.openxmlformats.org/drawingml/2006/main">
              <a:ext uri="{FF2B5EF4-FFF2-40B4-BE49-F238E27FC236}">
                <a16:creationId xmlns:a16="http://schemas.microsoft.com/office/drawing/2014/main" id="{E5CC6C8E-7E10-42E2-9CB8-5F143201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기능 흐름도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F973FF9B-979A-4496-A528-073F4479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291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8" name="계획 시각·수단 입력">
            <a:extLst xmlns:a="http://schemas.openxmlformats.org/drawingml/2006/main">
              <a:ext uri="{FF2B5EF4-FFF2-40B4-BE49-F238E27FC236}">
                <a16:creationId xmlns:a16="http://schemas.microsoft.com/office/drawing/2014/main" id="{03359BF6-5040-459C-873A-D54615E9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계획 시각·수단 입력</a:t>
            </a:r>
          </a:p>
        </p:txBody>
      </p:sp>
      <p:sp>
        <p:nvSpPr>
          <p:cNvPr id="9" name="출발 날짜와 이동수단 선택">
            <a:extLst xmlns:a="http://schemas.openxmlformats.org/drawingml/2006/main">
              <a:ext uri="{FF2B5EF4-FFF2-40B4-BE49-F238E27FC236}">
                <a16:creationId xmlns:a16="http://schemas.microsoft.com/office/drawing/2014/main" id="{77BCF92C-83D5-4DA4-B427-2B62253D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출발 날짜와 이동수단 선택</a:t>
            </a:r>
          </a:p>
        </p:txBody>
      </p:sp>
      <p:sp>
        <p:nvSpPr>
          <p:cNvPr id="10" name="↓">
            <a:extLst xmlns:a="http://schemas.openxmlformats.org/drawingml/2006/main">
              <a:ext uri="{FF2B5EF4-FFF2-40B4-BE49-F238E27FC236}">
                <a16:creationId xmlns:a16="http://schemas.microsoft.com/office/drawing/2014/main" id="{D5E1EBBD-5396-4D87-A644-8F0BF39A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46568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46568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AC9C3413-515F-44C9-AA42-FC9DFDFD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8635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12" name="동행 조건 입력">
            <a:extLst xmlns:a="http://schemas.openxmlformats.org/drawingml/2006/main">
              <a:ext uri="{FF2B5EF4-FFF2-40B4-BE49-F238E27FC236}">
                <a16:creationId xmlns:a16="http://schemas.microsoft.com/office/drawing/2014/main" id="{5E5F3A9A-79AB-4FBF-B271-302FBE3A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동행 조건 입력</a:t>
            </a:r>
          </a:p>
        </p:txBody>
      </p:sp>
      <p:sp>
        <p:nvSpPr>
          <p:cNvPr id="13" name="편안한 도보 시간·추가 여유">
            <a:extLst xmlns:a="http://schemas.openxmlformats.org/drawingml/2006/main">
              <a:ext uri="{FF2B5EF4-FFF2-40B4-BE49-F238E27FC236}">
                <a16:creationId xmlns:a16="http://schemas.microsoft.com/office/drawing/2014/main" id="{24E8AF5B-D016-4D45-B828-0F3B6C40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006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편안한 도보 시간·추가 여유</a:t>
            </a:r>
          </a:p>
        </p:txBody>
      </p:sp>
      <p:sp>
        <p:nvSpPr>
          <p:cNvPr id="14" name="↓">
            <a:extLst xmlns:a="http://schemas.openxmlformats.org/drawingml/2006/main">
              <a:ext uri="{FF2B5EF4-FFF2-40B4-BE49-F238E27FC236}">
                <a16:creationId xmlns:a16="http://schemas.microsoft.com/office/drawing/2014/main" id="{8F17FC00-7811-4C77-A7F2-FA708F54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3877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46568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46568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930EB483-927E-4B87-B7A9-ADF8B3F4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16" name="시간 여유 계산">
            <a:extLst xmlns:a="http://schemas.openxmlformats.org/drawingml/2006/main">
              <a:ext uri="{FF2B5EF4-FFF2-40B4-BE49-F238E27FC236}">
                <a16:creationId xmlns:a16="http://schemas.microsoft.com/office/drawing/2014/main" id="{A3003F42-E515-4235-AEB4-8916648D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435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시간 여유 계산</a:t>
            </a:r>
          </a:p>
        </p:txBody>
      </p:sp>
      <p:sp>
        <p:nvSpPr>
          <p:cNvPr id="17" name="개인 복귀 기준까지 남는 시간">
            <a:extLst xmlns:a="http://schemas.openxmlformats.org/drawingml/2006/main">
              <a:ext uri="{FF2B5EF4-FFF2-40B4-BE49-F238E27FC236}">
                <a16:creationId xmlns:a16="http://schemas.microsoft.com/office/drawing/2014/main" id="{29DD785F-6E4F-4D66-B178-E7F398E4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579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개인 복귀 기준까지 남는 시간</a:t>
            </a:r>
          </a:p>
        </p:txBody>
      </p:sp>
      <p:sp>
        <p:nvSpPr>
          <p:cNvPr id="18" name="여행별 동행 조건">
            <a:extLst xmlns:a="http://schemas.openxmlformats.org/drawingml/2006/main">
              <a:ext uri="{FF2B5EF4-FFF2-40B4-BE49-F238E27FC236}">
                <a16:creationId xmlns:a16="http://schemas.microsoft.com/office/drawing/2014/main" id="{DEB411DE-372B-4409-8A5E-7FA4FDB1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2573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여행별 동행 조건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bb001ed024f8c"/>
          <a:srcRect xmlns:a="http://schemas.openxmlformats.org/drawingml/2006/main" l="3500" t="22100" r="3500" b="18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84766" y="1809750"/>
            <a:ext cx="3156394" cy="4219575"/>
          </a:xfrm>
          <a:prstGeom xmlns:a="http://schemas.openxmlformats.org/drawingml/2006/main" prst="rect">
            <a:avLst/>
          </a:prstGeom>
        </p:spPr>
      </p:pic>
      <p:sp>
        <p:nvSpPr>
          <p:cNvPr id="20" name="09">
            <a:extLst xmlns:a="http://schemas.openxmlformats.org/drawingml/2006/main">
              <a:ext uri="{FF2B5EF4-FFF2-40B4-BE49-F238E27FC236}">
                <a16:creationId xmlns:a16="http://schemas.microsoft.com/office/drawing/2014/main" id="{D167B766-FD7E-4E7B-A3C7-A8F12685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629400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핵심 기능 03">
            <a:extLst xmlns:a="http://schemas.openxmlformats.org/drawingml/2006/main">
              <a:ext uri="{FF2B5EF4-FFF2-40B4-BE49-F238E27FC236}">
                <a16:creationId xmlns:a16="http://schemas.microsoft.com/office/drawing/2014/main" id="{2648872E-7A62-494D-91A3-5EE0D043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핵심 기능 03</a:t>
            </a:r>
          </a:p>
        </p:txBody>
      </p:sp>
      <p:sp>
        <p:nvSpPr>
          <p:cNvPr id="2" name="복귀 여유 비교·조정">
            <a:extLst xmlns:a="http://schemas.openxmlformats.org/drawingml/2006/main">
              <a:ext uri="{FF2B5EF4-FFF2-40B4-BE49-F238E27FC236}">
                <a16:creationId xmlns:a16="http://schemas.microsoft.com/office/drawing/2014/main" id="{81A5ED96-5FBB-4290-B925-0C0A93AF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906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4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복귀 여유 비교·조정</a:t>
            </a:r>
          </a:p>
        </p:txBody>
      </p:sp>
      <p:sp>
        <p:nvSpPr>
          <p:cNvPr id="3" name="2/2 · 조정 전후 비교와 적용">
            <a:extLst xmlns:a="http://schemas.openxmlformats.org/drawingml/2006/main">
              <a:ext uri="{FF2B5EF4-FFF2-40B4-BE49-F238E27FC236}">
                <a16:creationId xmlns:a16="http://schemas.microsoft.com/office/drawing/2014/main" id="{4A0DCA27-AEF1-4933-BE67-5CB4B2F0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2/2 · 조정 전후 비교와 적용</a:t>
            </a:r>
          </a:p>
        </p:txBody>
      </p:sp>
      <p:sp>
        <p:nvSpPr>
          <p:cNvPr id="4" name="기능 설명">
            <a:extLst xmlns:a="http://schemas.openxmlformats.org/drawingml/2006/main">
              <a:ext uri="{FF2B5EF4-FFF2-40B4-BE49-F238E27FC236}">
                <a16:creationId xmlns:a16="http://schemas.microsoft.com/office/drawing/2014/main" id="{1C0608D3-C2D5-40FE-9738-DC08E76B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90800"/>
            <a:ext cx="561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기능 설명</a:t>
            </a:r>
          </a:p>
        </p:txBody>
      </p:sp>
      <p:sp>
        <p:nvSpPr>
          <p:cNvPr id="5" name="한 곳을 덜 들르거나 체류시간을 줄여 복귀 여유와 도보량의 변화를 비교합니다.">
            <a:extLst xmlns:a="http://schemas.openxmlformats.org/drawingml/2006/main">
              <a:ext uri="{FF2B5EF4-FFF2-40B4-BE49-F238E27FC236}">
                <a16:creationId xmlns:a16="http://schemas.microsoft.com/office/drawing/2014/main" id="{7FD2AE9E-B8AF-47EE-A5D6-B91F2151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43225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87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한 곳을 덜 들르거나 체류시간을 줄여</a:t>
            </a:r>
          </a:p>
          <a:p xmlns:a="http://schemas.openxmlformats.org/drawingml/2006/main">
            <a:pPr algn="l">
              <a:defRPr sz="187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87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복귀 여유와 도보량의 변화를 비교합니다.</a:t>
            </a:r>
          </a:p>
        </p:txBody>
      </p:sp>
      <p:sp>
        <p:nvSpPr>
          <p:cNvPr id="6" name="입력 조건·거리 기반 이동시간으로 계산한 예시">
            <a:extLst xmlns:a="http://schemas.openxmlformats.org/drawingml/2006/main">
              <a:ext uri="{FF2B5EF4-FFF2-40B4-BE49-F238E27FC236}">
                <a16:creationId xmlns:a16="http://schemas.microsoft.com/office/drawing/2014/main" id="{CE4E8101-EC22-4764-9F72-7C136849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76650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425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입력 조건·거리 기반 이동시간으로 계산한 예시</a:t>
            </a:r>
          </a:p>
        </p:txBody>
      </p:sp>
      <p:sp>
        <p:nvSpPr>
          <p:cNvPr id="7" name="고석정 꽃밭 방문을 생략한 일정 조정 예시">
            <a:extLst xmlns:a="http://schemas.openxmlformats.org/drawingml/2006/main">
              <a:ext uri="{FF2B5EF4-FFF2-40B4-BE49-F238E27FC236}">
                <a16:creationId xmlns:a16="http://schemas.microsoft.com/office/drawing/2014/main" id="{CA7F6C88-DFA9-4775-9F3A-8D719E6D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5287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65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고석정 꽃밭 방문을 생략한 일정 조정 예시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495300" y="4400550"/>
          <a:ext xmlns:a="http://schemas.openxmlformats.org/drawingml/2006/main" cx="5286375" cy="17526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857375"/>
                <a:gridCol w="1714500"/>
                <a:gridCol w="1714500"/>
              </a:tblGrid>
              <a:tr h="38100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>
                          <a:solidFill>
                            <a:srgbClr val="22383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비교 항목</a:t>
                      </a:r>
                    </a:p>
                  </a:txBody>
                  <a:tcPr marL="152400" marR="152400" marT="57150" marB="57150" anchor="ctr">
                    <a:lnB w="7620">
                      <a:solidFill>
                        <a:srgbClr val="D9E2E1"/>
                      </a:solidFill>
                    </a:lnB>
                    <a:lnT w="7620">
                      <a:solidFill>
                        <a:srgbClr val="D9E2E1"/>
                      </a:solidFill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4F7F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>
                          <a:solidFill>
                            <a:srgbClr val="22383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현재 계획</a:t>
                      </a:r>
                    </a:p>
                  </a:txBody>
                  <a:tcPr marL="152400" marR="152400" marT="57150" marB="57150" anchor="ctr">
                    <a:lnB w="7620">
                      <a:solidFill>
                        <a:srgbClr val="D9E2E1"/>
                      </a:solidFill>
                    </a:lnB>
                    <a:lnT w="7620">
                      <a:solidFill>
                        <a:srgbClr val="D9E2E1"/>
                      </a:solidFill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4F7F6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>
                          <a:solidFill>
                            <a:srgbClr val="22383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조정안</a:t>
                      </a:r>
                    </a:p>
                  </a:txBody>
                  <a:tcPr marL="152400" marR="152400" marT="57150" marB="57150" anchor="ctr">
                    <a:lnB w="7620">
                      <a:solidFill>
                        <a:srgbClr val="D9E2E1"/>
                      </a:solidFill>
                    </a:lnB>
                    <a:lnT w="7620">
                      <a:solidFill>
                        <a:srgbClr val="D9E2E1"/>
                      </a:solidFill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4F7F6"/>
                    </a:solidFill>
                  </a:tcPr>
                </a:tc>
              </a:tr>
              <a:tr h="4286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>
                          <a:solidFill>
                            <a:srgbClr val="22383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방문 장소</a:t>
                      </a:r>
                    </a:p>
                  </a:txBody>
                  <a:tcPr marL="152400" marR="152400" marT="57150" marB="57150" anchor="ctr">
                    <a:lnB w="7620">
                      <a:solidFill>
                        <a:srgbClr val="D9E2E1"/>
                      </a:solidFill>
                    </a:lnB>
                    <a:lnT w="7620">
                      <a:noFill/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>
                          <a:solidFill>
                            <a:srgbClr val="22383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3곳</a:t>
                      </a:r>
                    </a:p>
                  </a:txBody>
                  <a:tcPr marL="152400" marR="152400" marT="57150" marB="57150" anchor="ctr">
                    <a:lnB w="7620">
                      <a:solidFill>
                        <a:srgbClr val="D9E2E1"/>
                      </a:solidFill>
                    </a:lnB>
                    <a:lnT w="7620">
                      <a:noFill/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>
                          <a:solidFill>
                            <a:srgbClr val="22383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2곳</a:t>
                      </a:r>
                    </a:p>
                  </a:txBody>
                  <a:tcPr marL="152400" marR="152400" marT="57150" marB="57150" anchor="ctr">
                    <a:lnB w="7620">
                      <a:solidFill>
                        <a:srgbClr val="D9E2E1"/>
                      </a:solidFill>
                    </a:lnB>
                    <a:lnT w="7620">
                      <a:noFill/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>
                          <a:solidFill>
                            <a:srgbClr val="22383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도보 추정</a:t>
                      </a:r>
                    </a:p>
                  </a:txBody>
                  <a:tcPr marL="152400" marR="152400" marT="57150" marB="57150" anchor="ctr">
                    <a:lnB w="7620">
                      <a:solidFill>
                        <a:srgbClr val="D9E2E1"/>
                      </a:solidFill>
                    </a:lnB>
                    <a:lnT w="7620">
                      <a:noFill/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>
                          <a:solidFill>
                            <a:srgbClr val="22383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30분</a:t>
                      </a:r>
                    </a:p>
                  </a:txBody>
                  <a:tcPr marL="152400" marR="152400" marT="57150" marB="57150" anchor="ctr">
                    <a:lnB w="7620">
                      <a:solidFill>
                        <a:srgbClr val="D9E2E1"/>
                      </a:solidFill>
                    </a:lnB>
                    <a:lnT w="7620">
                      <a:noFill/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650">
                          <a:solidFill>
                            <a:srgbClr val="22383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15분</a:t>
                      </a:r>
                    </a:p>
                  </a:txBody>
                  <a:tcPr marL="152400" marR="152400" marT="57150" marB="57150" anchor="ctr">
                    <a:lnB w="7620">
                      <a:solidFill>
                        <a:srgbClr val="D9E2E1"/>
                      </a:solidFill>
                    </a:lnB>
                    <a:lnT w="7620">
                      <a:noFill/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>
                          <a:solidFill>
                            <a:srgbClr val="24656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복귀 여유</a:t>
                      </a:r>
                    </a:p>
                  </a:txBody>
                  <a:tcPr marL="152400" marR="152400" marT="57150" marB="57150" anchor="ctr">
                    <a:lnB w="7620">
                      <a:solidFill>
                        <a:srgbClr val="D9E2E1"/>
                      </a:solidFill>
                    </a:lnB>
                    <a:lnT w="7620">
                      <a:noFill/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>
                          <a:solidFill>
                            <a:srgbClr val="24656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+119분</a:t>
                      </a:r>
                    </a:p>
                  </a:txBody>
                  <a:tcPr marL="152400" marR="152400" marT="57150" marB="57150" anchor="ctr">
                    <a:lnB w="7620">
                      <a:solidFill>
                        <a:srgbClr val="D9E2E1"/>
                      </a:solidFill>
                    </a:lnB>
                    <a:lnT w="7620">
                      <a:noFill/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2025">
                          <a:solidFill>
                            <a:srgbClr val="24656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+192분</a:t>
                      </a:r>
                    </a:p>
                  </a:txBody>
                  <a:tcPr marL="152400" marR="152400" marT="57150" marB="57150" anchor="ctr">
                    <a:lnB w="7620">
                      <a:solidFill>
                        <a:srgbClr val="D9E2E1"/>
                      </a:solidFill>
                    </a:lnB>
                    <a:lnT w="7620">
                      <a:noFill/>
                    </a:lnT>
                    <a:lnR w="7620">
                      <a:noFill/>
                    </a:lnR>
                    <a:lnL w="7620">
                      <a:noFill/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조정안 선택 → 비교 → 적용 → 저장">
            <a:extLst xmlns:a="http://schemas.openxmlformats.org/drawingml/2006/main">
              <a:ext uri="{FF2B5EF4-FFF2-40B4-BE49-F238E27FC236}">
                <a16:creationId xmlns:a16="http://schemas.microsoft.com/office/drawing/2014/main" id="{EA6ABD51-7E46-41AC-ABE4-F7F59B0C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65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조정안 선택 → 비교 → 적용 → 저장</a:t>
            </a:r>
          </a:p>
        </p:txBody>
      </p:sp>
      <p:sp>
        <p:nvSpPr>
          <p:cNvPr id="10" name="조정안 비교·적용 화면">
            <a:extLst xmlns:a="http://schemas.openxmlformats.org/drawingml/2006/main">
              <a:ext uri="{FF2B5EF4-FFF2-40B4-BE49-F238E27FC236}">
                <a16:creationId xmlns:a16="http://schemas.microsoft.com/office/drawing/2014/main" id="{4F847C60-7819-448B-AC62-C610940F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257300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조정안 비교·적용 화면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fdd5f2c41430d"/>
          <a:srcRect xmlns:a="http://schemas.openxmlformats.org/drawingml/2006/main" l="4500" t="34000" r="4500" b="129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38019" y="1704975"/>
            <a:ext cx="3735711" cy="4562475"/>
          </a:xfrm>
          <a:prstGeom xmlns:a="http://schemas.openxmlformats.org/drawingml/2006/main" prst="rect">
            <a:avLst/>
          </a:prstGeom>
        </p:spPr>
      </p:pic>
      <p:sp>
        <p:nvSpPr>
          <p:cNvPr id="12" name="10">
            <a:extLst xmlns:a="http://schemas.openxmlformats.org/drawingml/2006/main">
              <a:ext uri="{FF2B5EF4-FFF2-40B4-BE49-F238E27FC236}">
                <a16:creationId xmlns:a16="http://schemas.microsoft.com/office/drawing/2014/main" id="{7E343464-5518-4769-B4E9-23877B1D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629400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핵심 기능 04">
            <a:extLst xmlns:a="http://schemas.openxmlformats.org/drawingml/2006/main">
              <a:ext uri="{FF2B5EF4-FFF2-40B4-BE49-F238E27FC236}">
                <a16:creationId xmlns:a16="http://schemas.microsoft.com/office/drawing/2014/main" id="{6DD00A7A-C045-4532-AE6C-8B2E70CD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핵심 기능 04</a:t>
            </a:r>
          </a:p>
        </p:txBody>
      </p:sp>
      <p:sp>
        <p:nvSpPr>
          <p:cNvPr id="2" name="출타 진행과 여행 기록">
            <a:extLst xmlns:a="http://schemas.openxmlformats.org/drawingml/2006/main">
              <a:ext uri="{FF2B5EF4-FFF2-40B4-BE49-F238E27FC236}">
                <a16:creationId xmlns:a16="http://schemas.microsoft.com/office/drawing/2014/main" id="{208FF3BB-924D-4B6C-9EF1-14B6235A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4143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4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출타 진행과 여행 기록</a:t>
            </a:r>
          </a:p>
        </p:txBody>
      </p:sp>
      <p:sp>
        <p:nvSpPr>
          <p:cNvPr id="3" name="실제 다녀온 장소로 하루 기록">
            <a:extLst xmlns:a="http://schemas.openxmlformats.org/drawingml/2006/main">
              <a:ext uri="{FF2B5EF4-FFF2-40B4-BE49-F238E27FC236}">
                <a16:creationId xmlns:a16="http://schemas.microsoft.com/office/drawing/2014/main" id="{ED73EA80-E5F3-457E-88AA-12A23C11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395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실제 다녀온 장소로 하루 기록</a:t>
            </a:r>
          </a:p>
        </p:txBody>
      </p:sp>
      <p:sp>
        <p:nvSpPr>
          <p:cNvPr id="4" name="기능 설명">
            <a:extLst xmlns:a="http://schemas.openxmlformats.org/drawingml/2006/main">
              <a:ext uri="{FF2B5EF4-FFF2-40B4-BE49-F238E27FC236}">
                <a16:creationId xmlns:a16="http://schemas.microsoft.com/office/drawing/2014/main" id="{C8BA288A-9D21-4A1C-9707-0A20C446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기능 설명</a:t>
            </a:r>
          </a:p>
        </p:txBody>
      </p:sp>
      <p:sp>
        <p:nvSpPr>
          <p:cNvPr id="5" name="출발 후에는 현재 시각으로 일정을 확인합니다. 완료할 때 방문 장소와 스탬프를 선택해 ">
            <a:extLst xmlns:a="http://schemas.openxmlformats.org/drawingml/2006/main">
              <a:ext uri="{FF2B5EF4-FFF2-40B4-BE49-F238E27FC236}">
                <a16:creationId xmlns:a16="http://schemas.microsoft.com/office/drawing/2014/main" id="{05DF9F65-5572-4C89-B7D7-EB5B4385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3981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출발 후에는 현재 시각으로 일정을</a:t>
            </a:r>
          </a:p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확인합니다. 완료할 때 방문 장소와</a:t>
            </a:r>
          </a:p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스탬프를 선택해 기록을 남깁니다.</a:t>
            </a:r>
          </a:p>
        </p:txBody>
      </p:sp>
      <p:sp>
        <p:nvSpPr>
          <p:cNvPr id="6" name="기능 흐름도">
            <a:extLst xmlns:a="http://schemas.openxmlformats.org/drawingml/2006/main">
              <a:ext uri="{FF2B5EF4-FFF2-40B4-BE49-F238E27FC236}">
                <a16:creationId xmlns:a16="http://schemas.microsoft.com/office/drawing/2014/main" id="{6F71F65C-D05A-4566-AAD5-1393FE24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기능 흐름도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8C2C687B-2430-41CA-825E-B05E4FBF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291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8" name="현재 출타 시작">
            <a:extLst xmlns:a="http://schemas.openxmlformats.org/drawingml/2006/main">
              <a:ext uri="{FF2B5EF4-FFF2-40B4-BE49-F238E27FC236}">
                <a16:creationId xmlns:a16="http://schemas.microsoft.com/office/drawing/2014/main" id="{98B9D1C8-9686-45C9-A72F-294FD6DD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현재 출타 시작</a:t>
            </a:r>
          </a:p>
        </p:txBody>
      </p:sp>
      <p:sp>
        <p:nvSpPr>
          <p:cNvPr id="9" name="오늘의 복귀 기준을 직접 확인">
            <a:extLst xmlns:a="http://schemas.openxmlformats.org/drawingml/2006/main">
              <a:ext uri="{FF2B5EF4-FFF2-40B4-BE49-F238E27FC236}">
                <a16:creationId xmlns:a16="http://schemas.microsoft.com/office/drawing/2014/main" id="{B1636BEF-C760-4AAD-9E89-0D6F407E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오늘의 복귀 기준을 직접 확인</a:t>
            </a:r>
          </a:p>
        </p:txBody>
      </p:sp>
      <p:sp>
        <p:nvSpPr>
          <p:cNvPr id="10" name="↓">
            <a:extLst xmlns:a="http://schemas.openxmlformats.org/drawingml/2006/main">
              <a:ext uri="{FF2B5EF4-FFF2-40B4-BE49-F238E27FC236}">
                <a16:creationId xmlns:a16="http://schemas.microsoft.com/office/drawing/2014/main" id="{53FF027C-ABA6-4853-AD19-5E371D25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46568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46568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31242AB8-FA41-4D92-8EDB-8F23D0AC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8635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12" name="여행 완료 확인">
            <a:extLst xmlns:a="http://schemas.openxmlformats.org/drawingml/2006/main">
              <a:ext uri="{FF2B5EF4-FFF2-40B4-BE49-F238E27FC236}">
                <a16:creationId xmlns:a16="http://schemas.microsoft.com/office/drawing/2014/main" id="{154C17BD-5D94-44A4-933C-6A59C0D2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여행 완료 확인</a:t>
            </a:r>
          </a:p>
        </p:txBody>
      </p:sp>
      <p:sp>
        <p:nvSpPr>
          <p:cNvPr id="13" name="실제 다녀온 장소·스탬프 선택">
            <a:extLst xmlns:a="http://schemas.openxmlformats.org/drawingml/2006/main">
              <a:ext uri="{FF2B5EF4-FFF2-40B4-BE49-F238E27FC236}">
                <a16:creationId xmlns:a16="http://schemas.microsoft.com/office/drawing/2014/main" id="{CB7FA1E8-7742-45B3-9E21-670E01AD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006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실제 다녀온 장소·스탬프 선택</a:t>
            </a:r>
          </a:p>
        </p:txBody>
      </p:sp>
      <p:sp>
        <p:nvSpPr>
          <p:cNvPr id="14" name="↓">
            <a:extLst xmlns:a="http://schemas.openxmlformats.org/drawingml/2006/main">
              <a:ext uri="{FF2B5EF4-FFF2-40B4-BE49-F238E27FC236}">
                <a16:creationId xmlns:a16="http://schemas.microsoft.com/office/drawing/2014/main" id="{A45B1343-A3B8-467A-9D38-5BC36E3B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3877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46568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46568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4D177488-DA58-4648-8228-FBF94DF5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16" name="여행 기록 관리">
            <a:extLst xmlns:a="http://schemas.openxmlformats.org/drawingml/2006/main">
              <a:ext uri="{FF2B5EF4-FFF2-40B4-BE49-F238E27FC236}">
                <a16:creationId xmlns:a16="http://schemas.microsoft.com/office/drawing/2014/main" id="{F6976D30-BA96-4B2B-BE24-353AFFAA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435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여행 기록 관리</a:t>
            </a:r>
          </a:p>
        </p:txBody>
      </p:sp>
      <p:sp>
        <p:nvSpPr>
          <p:cNvPr id="17" name="수정·공유·새 계획으로 복원">
            <a:extLst xmlns:a="http://schemas.openxmlformats.org/drawingml/2006/main">
              <a:ext uri="{FF2B5EF4-FFF2-40B4-BE49-F238E27FC236}">
                <a16:creationId xmlns:a16="http://schemas.microsoft.com/office/drawing/2014/main" id="{5A7029C0-C006-4D10-8215-282FD056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579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수정·공유·새 계획으로 복원</a:t>
            </a:r>
          </a:p>
        </p:txBody>
      </p:sp>
      <p:sp>
        <p:nvSpPr>
          <p:cNvPr id="18" name="여행 완료 확인">
            <a:extLst xmlns:a="http://schemas.openxmlformats.org/drawingml/2006/main">
              <a:ext uri="{FF2B5EF4-FFF2-40B4-BE49-F238E27FC236}">
                <a16:creationId xmlns:a16="http://schemas.microsoft.com/office/drawing/2014/main" id="{5E0C4E49-00FF-47D7-8AEC-30DB1144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238250"/>
            <a:ext cx="29241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여행 완료 확인</a:t>
            </a:r>
          </a:p>
        </p:txBody>
      </p:sp>
      <p:sp>
        <p:nvSpPr>
          <p:cNvPr id="19" name="비무장 패스포트 기록">
            <a:extLst xmlns:a="http://schemas.openxmlformats.org/drawingml/2006/main">
              <a:ext uri="{FF2B5EF4-FFF2-40B4-BE49-F238E27FC236}">
                <a16:creationId xmlns:a16="http://schemas.microsoft.com/office/drawing/2014/main" id="{AEC9C4ED-A3EE-4DE6-858A-06A55F3C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238250"/>
            <a:ext cx="3381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비무장 패스포트 기록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9abff15dc455f"/>
          <a:srcRect xmlns:a="http://schemas.openxmlformats.org/drawingml/2006/main" l="12000" t="7000" r="12000" b="6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95069" y="1685925"/>
            <a:ext cx="1916162" cy="4591050"/>
          </a:xfrm>
          <a:prstGeom xmlns:a="http://schemas.openxmlformats.org/drawingml/2006/main" prst="rect">
            <a:avLst/>
          </a:prstGeom>
        </p:spPr>
      </p:pic>
      <p:sp>
        <p:nvSpPr>
          <p:cNvPr id="21" name="→">
            <a:extLst xmlns:a="http://schemas.openxmlformats.org/drawingml/2006/main">
              <a:ext uri="{FF2B5EF4-FFF2-40B4-BE49-F238E27FC236}">
                <a16:creationId xmlns:a16="http://schemas.microsoft.com/office/drawing/2014/main" id="{C7E277BA-3110-4FAC-A935-CC33E4DA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5718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55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75ff06f65499f"/>
          <a:srcRect xmlns:a="http://schemas.openxmlformats.org/drawingml/2006/main" l="4700" t="26500" r="4700" b="1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05800" y="1880125"/>
            <a:ext cx="3095625" cy="4183599"/>
          </a:xfrm>
          <a:prstGeom xmlns:a="http://schemas.openxmlformats.org/drawingml/2006/main" prst="rect">
            <a:avLst/>
          </a:prstGeom>
        </p:spPr>
      </p:pic>
      <p:sp>
        <p:nvSpPr>
          <p:cNvPr id="23" name="11">
            <a:extLst xmlns:a="http://schemas.openxmlformats.org/drawingml/2006/main">
              <a:ext uri="{FF2B5EF4-FFF2-40B4-BE49-F238E27FC236}">
                <a16:creationId xmlns:a16="http://schemas.microsoft.com/office/drawing/2014/main" id="{40BC335D-E2BD-4562-B367-7017ED61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629400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핵심 기능 05">
            <a:extLst xmlns:a="http://schemas.openxmlformats.org/drawingml/2006/main">
              <a:ext uri="{FF2B5EF4-FFF2-40B4-BE49-F238E27FC236}">
                <a16:creationId xmlns:a16="http://schemas.microsoft.com/office/drawing/2014/main" id="{DC3B7DF2-1A28-4C13-ADBB-C2EC8FE6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핵심 기능 05</a:t>
            </a:r>
          </a:p>
        </p:txBody>
      </p:sp>
      <p:sp>
        <p:nvSpPr>
          <p:cNvPr id="2" name="공개 장소 제안과 일정 반영">
            <a:extLst xmlns:a="http://schemas.openxmlformats.org/drawingml/2006/main">
              <a:ext uri="{FF2B5EF4-FFF2-40B4-BE49-F238E27FC236}">
                <a16:creationId xmlns:a16="http://schemas.microsoft.com/office/drawing/2014/main" id="{BCC596B1-2350-4FFD-B50D-3922737B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4143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4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공개 장소 제안과 일정 반영</a:t>
            </a:r>
          </a:p>
        </p:txBody>
      </p:sp>
      <p:sp>
        <p:nvSpPr>
          <p:cNvPr id="3" name="1/2 · 공개할 장소와 질문 선택">
            <a:extLst xmlns:a="http://schemas.openxmlformats.org/drawingml/2006/main">
              <a:ext uri="{FF2B5EF4-FFF2-40B4-BE49-F238E27FC236}">
                <a16:creationId xmlns:a16="http://schemas.microsoft.com/office/drawing/2014/main" id="{C0530E52-2DAA-466D-BD50-A8C30E29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395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1/2 · 공개할 장소와 질문 선택</a:t>
            </a:r>
          </a:p>
        </p:txBody>
      </p:sp>
      <p:sp>
        <p:nvSpPr>
          <p:cNvPr id="4" name="기능 설명">
            <a:extLst xmlns:a="http://schemas.openxmlformats.org/drawingml/2006/main">
              <a:ext uri="{FF2B5EF4-FFF2-40B4-BE49-F238E27FC236}">
                <a16:creationId xmlns:a16="http://schemas.microsoft.com/office/drawing/2014/main" id="{17006178-3622-44A0-8964-3CBF71C8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기능 설명</a:t>
            </a:r>
          </a:p>
        </p:txBody>
      </p:sp>
      <p:sp>
        <p:nvSpPr>
          <p:cNvPr id="5" name="여행의 관광지와 질문을 링크로 공유합니다. 방문자는 장소의 추가· 교체·생략을 구체적으">
            <a:extLst xmlns:a="http://schemas.openxmlformats.org/drawingml/2006/main">
              <a:ext uri="{FF2B5EF4-FFF2-40B4-BE49-F238E27FC236}">
                <a16:creationId xmlns:a16="http://schemas.microsoft.com/office/drawing/2014/main" id="{F808D9D5-5E3A-4770-B2FA-7FE41697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3981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여행의 관광지와 질문을 링크로</a:t>
            </a:r>
          </a:p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공유합니다. 방문자는 장소의 추가·</a:t>
            </a:r>
          </a:p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교체·생략을 구체적으로 제안합니다.</a:t>
            </a:r>
          </a:p>
        </p:txBody>
      </p:sp>
      <p:sp>
        <p:nvSpPr>
          <p:cNvPr id="6" name="기능 흐름도">
            <a:extLst xmlns:a="http://schemas.openxmlformats.org/drawingml/2006/main">
              <a:ext uri="{FF2B5EF4-FFF2-40B4-BE49-F238E27FC236}">
                <a16:creationId xmlns:a16="http://schemas.microsoft.com/office/drawing/2014/main" id="{6E9C40F4-C5C8-49DB-8FB9-E96F7AEC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기능 흐름도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4E4BB1DF-371E-48A0-825D-37B557AC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291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8" name="공개 범위 선택">
            <a:extLst xmlns:a="http://schemas.openxmlformats.org/drawingml/2006/main">
              <a:ext uri="{FF2B5EF4-FFF2-40B4-BE49-F238E27FC236}">
                <a16:creationId xmlns:a16="http://schemas.microsoft.com/office/drawing/2014/main" id="{4856BFA4-5E9A-4AD5-A1A9-8C50763C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공개 범위 선택</a:t>
            </a:r>
          </a:p>
        </p:txBody>
      </p:sp>
      <p:sp>
        <p:nvSpPr>
          <p:cNvPr id="9" name="관광지와 질문만 골라 공유">
            <a:extLst xmlns:a="http://schemas.openxmlformats.org/drawingml/2006/main">
              <a:ext uri="{FF2B5EF4-FFF2-40B4-BE49-F238E27FC236}">
                <a16:creationId xmlns:a16="http://schemas.microsoft.com/office/drawing/2014/main" id="{3D9C2281-7EEA-4490-99E2-9383D1C5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관광지와 질문만 골라 공유</a:t>
            </a:r>
          </a:p>
        </p:txBody>
      </p:sp>
      <p:sp>
        <p:nvSpPr>
          <p:cNvPr id="10" name="↓">
            <a:extLst xmlns:a="http://schemas.openxmlformats.org/drawingml/2006/main">
              <a:ext uri="{FF2B5EF4-FFF2-40B4-BE49-F238E27FC236}">
                <a16:creationId xmlns:a16="http://schemas.microsoft.com/office/drawing/2014/main" id="{0A78567F-160E-490C-B2E8-6340FDD0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46568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46568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7B99B701-FD45-4613-8E73-E54DBE6E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8635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12" name="SNS·메신저로 전달">
            <a:extLst xmlns:a="http://schemas.openxmlformats.org/drawingml/2006/main">
              <a:ext uri="{FF2B5EF4-FFF2-40B4-BE49-F238E27FC236}">
                <a16:creationId xmlns:a16="http://schemas.microsoft.com/office/drawing/2014/main" id="{4CC7E1AE-645B-4AAC-BC68-DE716625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SNS·메신저로 전달</a:t>
            </a:r>
          </a:p>
        </p:txBody>
      </p:sp>
      <p:sp>
        <p:nvSpPr>
          <p:cNvPr id="13" name="개인 복귀 정보는 공개하지 않음">
            <a:extLst xmlns:a="http://schemas.openxmlformats.org/drawingml/2006/main">
              <a:ext uri="{FF2B5EF4-FFF2-40B4-BE49-F238E27FC236}">
                <a16:creationId xmlns:a16="http://schemas.microsoft.com/office/drawing/2014/main" id="{6E6D5E00-C4A3-4C59-8924-47A034FB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006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개인 복귀 정보는 공개하지 않음</a:t>
            </a:r>
          </a:p>
        </p:txBody>
      </p:sp>
      <p:sp>
        <p:nvSpPr>
          <p:cNvPr id="14" name="↓">
            <a:extLst xmlns:a="http://schemas.openxmlformats.org/drawingml/2006/main">
              <a:ext uri="{FF2B5EF4-FFF2-40B4-BE49-F238E27FC236}">
                <a16:creationId xmlns:a16="http://schemas.microsoft.com/office/drawing/2014/main" id="{D31BA30F-4EDD-4D5D-956D-3484E2AB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3877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46568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46568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EC060003-950E-44AD-ACCE-D2CD9F17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16" name="장소 단위로 제안">
            <a:extLst xmlns:a="http://schemas.openxmlformats.org/drawingml/2006/main">
              <a:ext uri="{FF2B5EF4-FFF2-40B4-BE49-F238E27FC236}">
                <a16:creationId xmlns:a16="http://schemas.microsoft.com/office/drawing/2014/main" id="{0F286261-CF94-4836-80A2-4814670E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435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장소 단위로 제안</a:t>
            </a:r>
          </a:p>
        </p:txBody>
      </p:sp>
      <p:sp>
        <p:nvSpPr>
          <p:cNvPr id="17" name="관광정보 검색으로 후보 선택">
            <a:extLst xmlns:a="http://schemas.openxmlformats.org/drawingml/2006/main">
              <a:ext uri="{FF2B5EF4-FFF2-40B4-BE49-F238E27FC236}">
                <a16:creationId xmlns:a16="http://schemas.microsoft.com/office/drawing/2014/main" id="{B5A306E8-ECCC-407B-98A6-3FF08C78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579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관광정보 검색으로 후보 선택</a:t>
            </a:r>
          </a:p>
        </p:txBody>
      </p:sp>
      <p:sp>
        <p:nvSpPr>
          <p:cNvPr id="18" name="공개할 장소 확인">
            <a:extLst xmlns:a="http://schemas.openxmlformats.org/drawingml/2006/main">
              <a:ext uri="{FF2B5EF4-FFF2-40B4-BE49-F238E27FC236}">
                <a16:creationId xmlns:a16="http://schemas.microsoft.com/office/drawing/2014/main" id="{493C577F-5BF9-4E52-88E6-F24133A6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238250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공개할 장소 확인</a:t>
            </a:r>
          </a:p>
        </p:txBody>
      </p:sp>
      <p:sp>
        <p:nvSpPr>
          <p:cNvPr id="19" name="방문자의 교체 제안">
            <a:extLst xmlns:a="http://schemas.openxmlformats.org/drawingml/2006/main">
              <a:ext uri="{FF2B5EF4-FFF2-40B4-BE49-F238E27FC236}">
                <a16:creationId xmlns:a16="http://schemas.microsoft.com/office/drawing/2014/main" id="{82DB64EC-5379-4272-9FBB-2CC4DE55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38250"/>
            <a:ext cx="3067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방문자의 교체 제안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ddfb38bd84782"/>
          <a:srcRect xmlns:a="http://schemas.openxmlformats.org/drawingml/2006/main" l="2800" t="23000" r="2800" b="272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6775" y="2329768"/>
            <a:ext cx="3000375" cy="3312889"/>
          </a:xfrm>
          <a:prstGeom xmlns:a="http://schemas.openxmlformats.org/drawingml/2006/main" prst="rect">
            <a:avLst/>
          </a:prstGeom>
        </p:spPr>
      </p:pic>
      <p:sp>
        <p:nvSpPr>
          <p:cNvPr id="21" name="→">
            <a:extLst xmlns:a="http://schemas.openxmlformats.org/drawingml/2006/main">
              <a:ext uri="{FF2B5EF4-FFF2-40B4-BE49-F238E27FC236}">
                <a16:creationId xmlns:a16="http://schemas.microsoft.com/office/drawing/2014/main" id="{E2023CF1-4C20-4F3C-A20C-2635CE33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71875"/>
            <a:ext cx="41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55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93661651f4ccf"/>
          <a:srcRect xmlns:a="http://schemas.openxmlformats.org/drawingml/2006/main" l="2000" t="0" r="2000" b="1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4950" y="1752600"/>
            <a:ext cx="2338301" cy="4486275"/>
          </a:xfrm>
          <a:prstGeom xmlns:a="http://schemas.openxmlformats.org/drawingml/2006/main" prst="rect">
            <a:avLst/>
          </a:prstGeom>
        </p:spPr>
      </p:pic>
      <p:sp>
        <p:nvSpPr>
          <p:cNvPr id="23" name="12">
            <a:extLst xmlns:a="http://schemas.openxmlformats.org/drawingml/2006/main">
              <a:ext uri="{FF2B5EF4-FFF2-40B4-BE49-F238E27FC236}">
                <a16:creationId xmlns:a16="http://schemas.microsoft.com/office/drawing/2014/main" id="{AFC99998-F008-4376-9090-1136C643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629400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핵심 기능 05">
            <a:extLst xmlns:a="http://schemas.openxmlformats.org/drawingml/2006/main">
              <a:ext uri="{FF2B5EF4-FFF2-40B4-BE49-F238E27FC236}">
                <a16:creationId xmlns:a16="http://schemas.microsoft.com/office/drawing/2014/main" id="{DDCFFBB6-9F5F-4613-9DBE-2D18EDF5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핵심 기능 05</a:t>
            </a:r>
          </a:p>
        </p:txBody>
      </p:sp>
      <p:sp>
        <p:nvSpPr>
          <p:cNvPr id="2" name="공개 장소 제안과 일정 반영">
            <a:extLst xmlns:a="http://schemas.openxmlformats.org/drawingml/2006/main">
              <a:ext uri="{FF2B5EF4-FFF2-40B4-BE49-F238E27FC236}">
                <a16:creationId xmlns:a16="http://schemas.microsoft.com/office/drawing/2014/main" id="{D5C7E9D7-F0D8-4F1F-83A9-3ACA04C2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4143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4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공개 장소 제안과 일정 반영</a:t>
            </a:r>
          </a:p>
        </p:txBody>
      </p:sp>
      <p:sp>
        <p:nvSpPr>
          <p:cNvPr id="3" name="2/2 · 작성자 검토와 실제 일정 반영">
            <a:extLst xmlns:a="http://schemas.openxmlformats.org/drawingml/2006/main">
              <a:ext uri="{FF2B5EF4-FFF2-40B4-BE49-F238E27FC236}">
                <a16:creationId xmlns:a16="http://schemas.microsoft.com/office/drawing/2014/main" id="{DFC03F9D-9B2C-4114-9C14-BDD86408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395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2/2 · 작성자 검토와 실제 일정 반영</a:t>
            </a:r>
          </a:p>
        </p:txBody>
      </p:sp>
      <p:sp>
        <p:nvSpPr>
          <p:cNvPr id="4" name="기능 설명">
            <a:extLst xmlns:a="http://schemas.openxmlformats.org/drawingml/2006/main">
              <a:ext uri="{FF2B5EF4-FFF2-40B4-BE49-F238E27FC236}">
                <a16:creationId xmlns:a16="http://schemas.microsoft.com/office/drawing/2014/main" id="{ACD94787-D461-4FAE-BF09-16B83FF8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기능 설명</a:t>
            </a:r>
          </a:p>
        </p:txBody>
      </p:sp>
      <p:sp>
        <p:nvSpPr>
          <p:cNvPr id="5" name="작성자가 제안을 검토하고 일정을 저장하면 반영 완료로 표시됩니다. 방문자는 공개안으로 ">
            <a:extLst xmlns:a="http://schemas.openxmlformats.org/drawingml/2006/main">
              <a:ext uri="{FF2B5EF4-FFF2-40B4-BE49-F238E27FC236}">
                <a16:creationId xmlns:a16="http://schemas.microsoft.com/office/drawing/2014/main" id="{6B723FC6-D578-4724-894B-0141A022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3981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작성자가 제안을 검토하고 일정을</a:t>
            </a:r>
          </a:p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저장하면 반영 완료로 표시됩니다.</a:t>
            </a:r>
          </a:p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방문자는 공개안으로 새 여행을 만듭니다.</a:t>
            </a:r>
          </a:p>
        </p:txBody>
      </p:sp>
      <p:sp>
        <p:nvSpPr>
          <p:cNvPr id="6" name="기능 흐름도">
            <a:extLst xmlns:a="http://schemas.openxmlformats.org/drawingml/2006/main">
              <a:ext uri="{FF2B5EF4-FFF2-40B4-BE49-F238E27FC236}">
                <a16:creationId xmlns:a16="http://schemas.microsoft.com/office/drawing/2014/main" id="{44FDA3FE-F56C-4572-A3D9-00FB9066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35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기능 흐름도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3313544C-52A8-4798-AF7A-1D0E25FF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291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8" name="받은 제안 확인">
            <a:extLst xmlns:a="http://schemas.openxmlformats.org/drawingml/2006/main">
              <a:ext uri="{FF2B5EF4-FFF2-40B4-BE49-F238E27FC236}">
                <a16:creationId xmlns:a16="http://schemas.microsoft.com/office/drawing/2014/main" id="{5E8149C1-E190-4B87-B5BF-C23BE915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받은 제안 확인</a:t>
            </a:r>
          </a:p>
        </p:txBody>
      </p:sp>
      <p:sp>
        <p:nvSpPr>
          <p:cNvPr id="9" name="추가·교체할 장소와 이유 확인">
            <a:extLst xmlns:a="http://schemas.openxmlformats.org/drawingml/2006/main">
              <a:ext uri="{FF2B5EF4-FFF2-40B4-BE49-F238E27FC236}">
                <a16:creationId xmlns:a16="http://schemas.microsoft.com/office/drawing/2014/main" id="{0E914660-2F32-4D12-9DE1-0C504ABA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추가·교체할 장소와 이유 확인</a:t>
            </a:r>
          </a:p>
        </p:txBody>
      </p:sp>
      <p:sp>
        <p:nvSpPr>
          <p:cNvPr id="10" name="↓">
            <a:extLst xmlns:a="http://schemas.openxmlformats.org/drawingml/2006/main">
              <a:ext uri="{FF2B5EF4-FFF2-40B4-BE49-F238E27FC236}">
                <a16:creationId xmlns:a16="http://schemas.microsoft.com/office/drawing/2014/main" id="{89C14B61-CF56-49C3-B5D5-0588918E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46568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46568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5DBD76C7-F511-45CB-BEA7-37A9E2F7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8635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12" name="내 일정에서 검토">
            <a:extLst xmlns:a="http://schemas.openxmlformats.org/drawingml/2006/main">
              <a:ext uri="{FF2B5EF4-FFF2-40B4-BE49-F238E27FC236}">
                <a16:creationId xmlns:a16="http://schemas.microsoft.com/office/drawing/2014/main" id="{FA49DF6B-63A8-402D-A475-980977EF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내 일정에서 검토</a:t>
            </a:r>
          </a:p>
        </p:txBody>
      </p:sp>
      <p:sp>
        <p:nvSpPr>
          <p:cNvPr id="13" name="변경할 장소·순서를 직접 확인">
            <a:extLst xmlns:a="http://schemas.openxmlformats.org/drawingml/2006/main">
              <a:ext uri="{FF2B5EF4-FFF2-40B4-BE49-F238E27FC236}">
                <a16:creationId xmlns:a16="http://schemas.microsoft.com/office/drawing/2014/main" id="{ED69A7C2-4D38-4395-B988-571337B4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006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변경할 장소·순서를 직접 확인</a:t>
            </a:r>
          </a:p>
        </p:txBody>
      </p:sp>
      <p:sp>
        <p:nvSpPr>
          <p:cNvPr id="14" name="↓">
            <a:extLst xmlns:a="http://schemas.openxmlformats.org/drawingml/2006/main">
              <a:ext uri="{FF2B5EF4-FFF2-40B4-BE49-F238E27FC236}">
                <a16:creationId xmlns:a16="http://schemas.microsoft.com/office/drawing/2014/main" id="{B954D08E-A9FB-4575-8466-032D5F3B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3877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46568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46568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0678E33B-61D2-4CAE-99FB-F920B042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16" name="저장 후 반영 표시">
            <a:extLst xmlns:a="http://schemas.openxmlformats.org/drawingml/2006/main">
              <a:ext uri="{FF2B5EF4-FFF2-40B4-BE49-F238E27FC236}">
                <a16:creationId xmlns:a16="http://schemas.microsoft.com/office/drawing/2014/main" id="{7933BC94-C813-4B95-BE80-7FC25D87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435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0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저장 후 반영 표시</a:t>
            </a:r>
          </a:p>
        </p:txBody>
      </p:sp>
      <p:sp>
        <p:nvSpPr>
          <p:cNvPr id="17" name="실제 저장 결과를 방문자에게 안내">
            <a:extLst xmlns:a="http://schemas.openxmlformats.org/drawingml/2006/main">
              <a:ext uri="{FF2B5EF4-FFF2-40B4-BE49-F238E27FC236}">
                <a16:creationId xmlns:a16="http://schemas.microsoft.com/office/drawing/2014/main" id="{2D178E5C-D821-4903-9432-7E4E6424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579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실제 저장 결과를 방문자에게 안내</a:t>
            </a:r>
          </a:p>
        </p:txBody>
      </p:sp>
      <p:sp>
        <p:nvSpPr>
          <p:cNvPr id="18" name="작성자에게 도착한 제안">
            <a:extLst xmlns:a="http://schemas.openxmlformats.org/drawingml/2006/main">
              <a:ext uri="{FF2B5EF4-FFF2-40B4-BE49-F238E27FC236}">
                <a16:creationId xmlns:a16="http://schemas.microsoft.com/office/drawing/2014/main" id="{A1AD80E5-EA0B-41E6-9527-8E471539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238250"/>
            <a:ext cx="3524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작성자에게 도착한 제안</a:t>
            </a:r>
          </a:p>
        </p:txBody>
      </p:sp>
      <p:sp>
        <p:nvSpPr>
          <p:cNvPr id="19" name="방문자가 보는 반영 결과">
            <a:extLst xmlns:a="http://schemas.openxmlformats.org/drawingml/2006/main">
              <a:ext uri="{FF2B5EF4-FFF2-40B4-BE49-F238E27FC236}">
                <a16:creationId xmlns:a16="http://schemas.microsoft.com/office/drawing/2014/main" id="{F46F2379-FF0F-4227-80A2-EA154463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238250"/>
            <a:ext cx="2990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방문자가 보는 반영 결과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d9743654d4e18"/>
          <a:srcRect xmlns:a="http://schemas.openxmlformats.org/drawingml/2006/main" l="3500" t="52000" r="3500" b="7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86300" y="2302188"/>
            <a:ext cx="3486150" cy="3177549"/>
          </a:xfrm>
          <a:prstGeom xmlns:a="http://schemas.openxmlformats.org/drawingml/2006/main" prst="rect">
            <a:avLst/>
          </a:prstGeom>
        </p:spPr>
      </p:pic>
      <p:sp>
        <p:nvSpPr>
          <p:cNvPr id="21" name="→">
            <a:extLst xmlns:a="http://schemas.openxmlformats.org/drawingml/2006/main">
              <a:ext uri="{FF2B5EF4-FFF2-40B4-BE49-F238E27FC236}">
                <a16:creationId xmlns:a16="http://schemas.microsoft.com/office/drawing/2014/main" id="{503B3982-DFBE-4C64-B81D-6A9CCD17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718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4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d69a1669e4c86"/>
          <a:srcRect xmlns:a="http://schemas.openxmlformats.org/drawingml/2006/main" l="2400" t="0" r="2400" b="11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9211" y="1704975"/>
            <a:ext cx="2331704" cy="4562475"/>
          </a:xfrm>
          <a:prstGeom xmlns:a="http://schemas.openxmlformats.org/drawingml/2006/main" prst="rect">
            <a:avLst/>
          </a:prstGeom>
        </p:spPr>
      </p:pic>
      <p:sp>
        <p:nvSpPr>
          <p:cNvPr id="23" name="13">
            <a:extLst xmlns:a="http://schemas.openxmlformats.org/drawingml/2006/main">
              <a:ext uri="{FF2B5EF4-FFF2-40B4-BE49-F238E27FC236}">
                <a16:creationId xmlns:a16="http://schemas.microsoft.com/office/drawing/2014/main" id="{49546FC0-BCEF-49B1-89D0-F86C1A7A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629400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PI명">
            <a:extLst xmlns:a="http://schemas.openxmlformats.org/drawingml/2006/main">
              <a:ext uri="{FF2B5EF4-FFF2-40B4-BE49-F238E27FC236}">
                <a16:creationId xmlns:a16="http://schemas.microsoft.com/office/drawing/2014/main" id="{8779E6D6-4104-4AFD-9C8F-141FCCCE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477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0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API명</a:t>
            </a:r>
          </a:p>
        </p:txBody>
      </p:sp>
      <p:sp>
        <p:nvSpPr>
          <p:cNvPr id="2" name="상세설명 · 서비스 활용">
            <a:extLst xmlns:a="http://schemas.openxmlformats.org/drawingml/2006/main">
              <a:ext uri="{FF2B5EF4-FFF2-40B4-BE49-F238E27FC236}">
                <a16:creationId xmlns:a16="http://schemas.microsoft.com/office/drawing/2014/main" id="{A5468E87-06BA-4B78-895F-2DD6DCF5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24777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0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상세설명 · 서비스 활용</a:t>
            </a:r>
          </a:p>
        </p:txBody>
      </p:sp>
      <p:sp>
        <p:nvSpPr>
          <p:cNvPr id="3" name="적용 화면">
            <a:extLst xmlns:a="http://schemas.openxmlformats.org/drawingml/2006/main">
              <a:ext uri="{FF2B5EF4-FFF2-40B4-BE49-F238E27FC236}">
                <a16:creationId xmlns:a16="http://schemas.microsoft.com/office/drawing/2014/main" id="{305D2C2A-5DCC-4711-9E3B-850DA97C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47775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500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적용 화면</a:t>
            </a:r>
          </a:p>
        </p:txBody>
      </p:sp>
      <p:sp>
        <p:nvSpPr>
          <p:cNvPr id="4" name="section divider">
            <a:extLst xmlns:a="http://schemas.openxmlformats.org/drawingml/2006/main">
              <a:ext uri="{FF2B5EF4-FFF2-40B4-BE49-F238E27FC236}">
                <a16:creationId xmlns:a16="http://schemas.microsoft.com/office/drawing/2014/main" id="{ECBAED72-9846-4E66-878F-A5721D0C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859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1"/>
            </a:solidFill>
          </a:ln>
        </p:spPr>
      </p:sp>
      <p:sp>
        <p:nvSpPr>
          <p:cNvPr id="5" name="국문 관광정보 서비스_GW">
            <a:extLst xmlns:a="http://schemas.openxmlformats.org/drawingml/2006/main">
              <a:ext uri="{FF2B5EF4-FFF2-40B4-BE49-F238E27FC236}">
                <a16:creationId xmlns:a16="http://schemas.microsoft.com/office/drawing/2014/main" id="{96E34787-F82A-4386-B96C-6CA4B903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1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국문 관광정보</a:t>
            </a:r>
          </a:p>
          <a:p xmlns:a="http://schemas.openxmlformats.org/drawingml/2006/main">
            <a:pPr algn="l">
              <a:defRPr sz="21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1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서비스_GW</a:t>
            </a:r>
          </a:p>
        </p:txBody>
      </p:sp>
      <p:sp>
        <p:nvSpPr>
          <p:cNvPr id="6" name="KorService2">
            <a:extLst xmlns:a="http://schemas.openxmlformats.org/drawingml/2006/main">
              <a:ext uri="{FF2B5EF4-FFF2-40B4-BE49-F238E27FC236}">
                <a16:creationId xmlns:a16="http://schemas.microsoft.com/office/drawing/2014/main" id="{B07B7BC6-64AB-4648-8C79-BD4000CF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765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425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KorService2</a:t>
            </a:r>
          </a:p>
        </p:txBody>
      </p:sp>
      <p:sp>
        <p:nvSpPr>
          <p:cNvPr id="7" name="장소명·주소·좌표·사진·운영정보">
            <a:extLst xmlns:a="http://schemas.openxmlformats.org/drawingml/2006/main">
              <a:ext uri="{FF2B5EF4-FFF2-40B4-BE49-F238E27FC236}">
                <a16:creationId xmlns:a16="http://schemas.microsoft.com/office/drawing/2014/main" id="{A525E748-989F-4B45-AB3D-C4C4C95D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33575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장소명·주소·좌표·사진·운영정보</a:t>
            </a:r>
          </a:p>
        </p:txBody>
      </p:sp>
      <p:sp>
        <p:nvSpPr>
          <p:cNvPr id="8" name="관광지·음식점·숙박 등 장소 검색 선택한 장소로 일정표와 지도 구성 좌표를 이용해 이동">
            <a:extLst xmlns:a="http://schemas.openxmlformats.org/drawingml/2006/main">
              <a:ext uri="{FF2B5EF4-FFF2-40B4-BE49-F238E27FC236}">
                <a16:creationId xmlns:a16="http://schemas.microsoft.com/office/drawing/2014/main" id="{51986D81-2CFA-4BC0-AB48-6FCA1D89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47925"/>
            <a:ext cx="5238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관광지·음식점·숙박 등 장소 검색</a:t>
            </a:r>
          </a:p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선택한 장소로 일정표와 지도 구성</a:t>
            </a:r>
          </a:p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좌표를 이용해 이동시간 추정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f2cb784e84658"/>
          <a:srcRect xmlns:a="http://schemas.openxmlformats.org/drawingml/2006/main" l="4500" t="39500" r="4500" b="271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7981" y="1857375"/>
            <a:ext cx="2566588" cy="1971675"/>
          </a:xfrm>
          <a:prstGeom xmlns:a="http://schemas.openxmlformats.org/drawingml/2006/main" prst="rect">
            <a:avLst/>
          </a:prstGeom>
        </p:spPr>
      </p:pic>
      <p:sp>
        <p:nvSpPr>
          <p:cNvPr id="10" name="section divider">
            <a:extLst xmlns:a="http://schemas.openxmlformats.org/drawingml/2006/main">
              <a:ext uri="{FF2B5EF4-FFF2-40B4-BE49-F238E27FC236}">
                <a16:creationId xmlns:a16="http://schemas.microsoft.com/office/drawing/2014/main" id="{474EAE74-F5B3-466C-82CC-4536922D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1"/>
            </a:solidFill>
          </a:ln>
        </p:spPr>
      </p:sp>
      <p:sp>
        <p:nvSpPr>
          <p:cNvPr id="11" name="무장애 여행 정보">
            <a:extLst xmlns:a="http://schemas.openxmlformats.org/drawingml/2006/main">
              <a:ext uri="{FF2B5EF4-FFF2-40B4-BE49-F238E27FC236}">
                <a16:creationId xmlns:a16="http://schemas.microsoft.com/office/drawing/2014/main" id="{67494968-271A-49E0-943A-738977F7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2886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1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무장애 여행 정보</a:t>
            </a:r>
          </a:p>
        </p:txBody>
      </p:sp>
      <p:sp>
        <p:nvSpPr>
          <p:cNvPr id="12" name="KorWithService2">
            <a:extLst xmlns:a="http://schemas.openxmlformats.org/drawingml/2006/main">
              <a:ext uri="{FF2B5EF4-FFF2-40B4-BE49-F238E27FC236}">
                <a16:creationId xmlns:a16="http://schemas.microsoft.com/office/drawing/2014/main" id="{3EF0A912-AF47-4F0F-A45F-CE220490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76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1425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KorWithService2</a:t>
            </a:r>
          </a:p>
        </p:txBody>
      </p:sp>
      <p:sp>
        <p:nvSpPr>
          <p:cNvPr id="13" name="주차·접근로·휠체어·편의시설">
            <a:extLst xmlns:a="http://schemas.openxmlformats.org/drawingml/2006/main">
              <a:ext uri="{FF2B5EF4-FFF2-40B4-BE49-F238E27FC236}">
                <a16:creationId xmlns:a16="http://schemas.microsoft.com/office/drawing/2014/main" id="{46805D30-6F19-410A-92B4-FA953589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87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주차·접근로·휠체어·편의시설</a:t>
            </a:r>
          </a:p>
        </p:txBody>
      </p:sp>
      <p:sp>
        <p:nvSpPr>
          <p:cNvPr id="14" name="장소별 동행 편의정보 확인 부모·가족의 방문 조건 검토 이용 가능한 시설 안내를 상세에">
            <a:extLst xmlns:a="http://schemas.openxmlformats.org/drawingml/2006/main">
              <a:ext uri="{FF2B5EF4-FFF2-40B4-BE49-F238E27FC236}">
                <a16:creationId xmlns:a16="http://schemas.microsoft.com/office/drawing/2014/main" id="{0C172837-1F4E-47E5-8EB1-FD7E6A28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67275"/>
            <a:ext cx="5238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장소별 동행 편의정보 확인</a:t>
            </a:r>
          </a:p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부모·가족의 방문 조건 검토</a:t>
            </a:r>
          </a:p>
          <a:p xmlns:a="http://schemas.openxmlformats.org/drawingml/2006/main">
            <a:pPr algn="l">
              <a:defRPr sz="180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이용 가능한 시설 안내를 상세에 표시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9fbfae9ba4506"/>
          <a:srcRect xmlns:a="http://schemas.openxmlformats.org/drawingml/2006/main" l="4500" t="54100" r="4500" b="218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43950" y="4481674"/>
            <a:ext cx="2800350" cy="1552251"/>
          </a:xfrm>
          <a:prstGeom xmlns:a="http://schemas.openxmlformats.org/drawingml/2006/main" prst="rect">
            <a:avLst/>
          </a:prstGeom>
        </p:spPr>
      </p:pic>
      <p:sp>
        <p:nvSpPr>
          <p:cNvPr id="16" name="14">
            <a:extLst xmlns:a="http://schemas.openxmlformats.org/drawingml/2006/main">
              <a:ext uri="{FF2B5EF4-FFF2-40B4-BE49-F238E27FC236}">
                <a16:creationId xmlns:a16="http://schemas.microsoft.com/office/drawing/2014/main" id="{5E32D999-4C37-4083-9F5B-5AFEA57E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629400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2294703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접경지역 관광 자료">
            <a:extLst xmlns:a="http://schemas.openxmlformats.org/drawingml/2006/main">
              <a:ext uri="{FF2B5EF4-FFF2-40B4-BE49-F238E27FC236}">
                <a16:creationId xmlns:a16="http://schemas.microsoft.com/office/drawing/2014/main" id="{235B4995-E34D-4897-8D9F-6E4BCC24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85875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1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접경지역 관광 자료</a:t>
            </a:r>
          </a:p>
        </p:txBody>
      </p:sp>
      <p:sp>
        <p:nvSpPr>
          <p:cNvPr id="2" name="데이터명">
            <a:extLst xmlns:a="http://schemas.openxmlformats.org/drawingml/2006/main">
              <a:ext uri="{FF2B5EF4-FFF2-40B4-BE49-F238E27FC236}">
                <a16:creationId xmlns:a16="http://schemas.microsoft.com/office/drawing/2014/main" id="{FDBB2EE9-B4E0-4A18-8493-21F11F53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75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데이터명</a:t>
            </a:r>
          </a:p>
        </p:txBody>
      </p:sp>
      <p:sp>
        <p:nvSpPr>
          <p:cNvPr id="3" name="통일부 DMZ 관광·카페 파일 국가보훈부 현충시설 수집본">
            <a:extLst xmlns:a="http://schemas.openxmlformats.org/drawingml/2006/main">
              <a:ext uri="{FF2B5EF4-FFF2-40B4-BE49-F238E27FC236}">
                <a16:creationId xmlns:a16="http://schemas.microsoft.com/office/drawing/2014/main" id="{D17E6A3B-C50A-4B50-9D50-108566F1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76475"/>
            <a:ext cx="3562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통일부 DMZ 관광·카페 파일</a:t>
            </a:r>
          </a:p>
          <a:p xmlns:a="http://schemas.openxmlformats.org/drawingml/2006/main">
            <a:pPr algn="l">
              <a:defRPr sz="165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국가보훈부 현충시설 수집본</a:t>
            </a:r>
          </a:p>
        </p:txBody>
      </p:sp>
      <p:sp>
        <p:nvSpPr>
          <p:cNvPr id="4" name="상세설명">
            <a:extLst xmlns:a="http://schemas.openxmlformats.org/drawingml/2006/main">
              <a:ext uri="{FF2B5EF4-FFF2-40B4-BE49-F238E27FC236}">
                <a16:creationId xmlns:a16="http://schemas.microsoft.com/office/drawing/2014/main" id="{005E330D-E49E-4F2D-B36F-595C0E82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75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상세설명</a:t>
            </a:r>
          </a:p>
        </p:txBody>
      </p:sp>
      <p:sp>
        <p:nvSpPr>
          <p:cNvPr id="5" name="관광·휴식·호국 장소의 기본 후보를 구성합니다.">
            <a:extLst xmlns:a="http://schemas.openxmlformats.org/drawingml/2006/main">
              <a:ext uri="{FF2B5EF4-FFF2-40B4-BE49-F238E27FC236}">
                <a16:creationId xmlns:a16="http://schemas.microsoft.com/office/drawing/2014/main" id="{6AA882A1-B595-4ADB-A83B-84B7405C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76625"/>
            <a:ext cx="3571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관광·휴식·호국 장소의</a:t>
            </a:r>
          </a:p>
          <a:p xmlns:a="http://schemas.openxmlformats.org/drawingml/2006/main">
            <a:pPr algn="l">
              <a:defRPr sz="165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기본 후보를 구성합니다.</a:t>
            </a:r>
          </a:p>
        </p:txBody>
      </p:sp>
      <p:sp>
        <p:nvSpPr>
          <p:cNvPr id="6" name="기상청 단기예보">
            <a:extLst xmlns:a="http://schemas.openxmlformats.org/drawingml/2006/main">
              <a:ext uri="{FF2B5EF4-FFF2-40B4-BE49-F238E27FC236}">
                <a16:creationId xmlns:a16="http://schemas.microsoft.com/office/drawing/2014/main" id="{2AC3B7BD-2FFE-4A4E-84A6-262474F8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285875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1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기상청 단기예보</a:t>
            </a:r>
          </a:p>
        </p:txBody>
      </p:sp>
      <p:sp>
        <p:nvSpPr>
          <p:cNvPr id="7" name="데이터명">
            <a:extLst xmlns:a="http://schemas.openxmlformats.org/drawingml/2006/main">
              <a:ext uri="{FF2B5EF4-FFF2-40B4-BE49-F238E27FC236}">
                <a16:creationId xmlns:a16="http://schemas.microsoft.com/office/drawing/2014/main" id="{A64A391D-4950-4921-832C-BE071FAA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75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데이터명</a:t>
            </a:r>
          </a:p>
        </p:txBody>
      </p:sp>
      <p:sp>
        <p:nvSpPr>
          <p:cNvPr id="8" name="getVilageFcst">
            <a:extLst xmlns:a="http://schemas.openxmlformats.org/drawingml/2006/main">
              <a:ext uri="{FF2B5EF4-FFF2-40B4-BE49-F238E27FC236}">
                <a16:creationId xmlns:a16="http://schemas.microsoft.com/office/drawing/2014/main" id="{B43F9488-5E0C-4DAD-8244-31606DCA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76475"/>
            <a:ext cx="3562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getVilageFcst</a:t>
            </a:r>
          </a:p>
        </p:txBody>
      </p:sp>
      <p:sp>
        <p:nvSpPr>
          <p:cNvPr id="9" name="상세설명">
            <a:extLst xmlns:a="http://schemas.openxmlformats.org/drawingml/2006/main">
              <a:ext uri="{FF2B5EF4-FFF2-40B4-BE49-F238E27FC236}">
                <a16:creationId xmlns:a16="http://schemas.microsoft.com/office/drawing/2014/main" id="{46779BBB-BA5F-455D-80B7-502DC0E1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75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상세설명</a:t>
            </a:r>
          </a:p>
        </p:txBody>
      </p:sp>
      <p:sp>
        <p:nvSpPr>
          <p:cNvPr id="10" name="권역의 8시간 예보를 확인합니다. 사용자가 선택한 날씨 조건을 일정 여유에 반영합니다.">
            <a:extLst xmlns:a="http://schemas.openxmlformats.org/drawingml/2006/main">
              <a:ext uri="{FF2B5EF4-FFF2-40B4-BE49-F238E27FC236}">
                <a16:creationId xmlns:a16="http://schemas.microsoft.com/office/drawing/2014/main" id="{9EAEFACF-2A34-413B-956B-6AE71B64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76625"/>
            <a:ext cx="3571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권역의 8시간 예보를 확인합니다.</a:t>
            </a:r>
          </a:p>
          <a:p xmlns:a="http://schemas.openxmlformats.org/drawingml/2006/main">
            <a:pPr algn="l">
              <a:defRPr sz="165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사용자가 선택한 날씨 조건을</a:t>
            </a:r>
          </a:p>
          <a:p xmlns:a="http://schemas.openxmlformats.org/drawingml/2006/main">
            <a:pPr algn="l">
              <a:defRPr sz="165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일정 여유에 반영합니다.</a:t>
            </a:r>
          </a:p>
        </p:txBody>
      </p:sp>
      <p:sp>
        <p:nvSpPr>
          <p:cNvPr id="11" name="카카오맵">
            <a:extLst xmlns:a="http://schemas.openxmlformats.org/drawingml/2006/main">
              <a:ext uri="{FF2B5EF4-FFF2-40B4-BE49-F238E27FC236}">
                <a16:creationId xmlns:a16="http://schemas.microsoft.com/office/drawing/2014/main" id="{4015D8BB-5B74-424A-B4E6-4D14807D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85875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100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카카오맵</a:t>
            </a:r>
          </a:p>
        </p:txBody>
      </p:sp>
      <p:sp>
        <p:nvSpPr>
          <p:cNvPr id="12" name="데이터명">
            <a:extLst xmlns:a="http://schemas.openxmlformats.org/drawingml/2006/main">
              <a:ext uri="{FF2B5EF4-FFF2-40B4-BE49-F238E27FC236}">
                <a16:creationId xmlns:a16="http://schemas.microsoft.com/office/drawing/2014/main" id="{1652CC7C-D7C8-43B1-B949-1D15FB39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24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75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데이터명</a:t>
            </a:r>
          </a:p>
        </p:txBody>
      </p:sp>
      <p:sp>
        <p:nvSpPr>
          <p:cNvPr id="13" name="JavaScript SDK · 외부 길찾기">
            <a:extLst xmlns:a="http://schemas.openxmlformats.org/drawingml/2006/main">
              <a:ext uri="{FF2B5EF4-FFF2-40B4-BE49-F238E27FC236}">
                <a16:creationId xmlns:a16="http://schemas.microsoft.com/office/drawing/2014/main" id="{72F24672-CDC8-49EE-83B3-F81CA815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76475"/>
            <a:ext cx="3562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JavaScript SDK · 외부 길찾기</a:t>
            </a:r>
          </a:p>
        </p:txBody>
      </p:sp>
      <p:sp>
        <p:nvSpPr>
          <p:cNvPr id="14" name="상세설명">
            <a:extLst xmlns:a="http://schemas.openxmlformats.org/drawingml/2006/main">
              <a:ext uri="{FF2B5EF4-FFF2-40B4-BE49-F238E27FC236}">
                <a16:creationId xmlns:a16="http://schemas.microsoft.com/office/drawing/2014/main" id="{62F68154-948C-4683-94A3-C8E0D47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275">
                <a:solidFill>
                  <a:srgbClr val="647579"/>
                </a:solidFill>
                <a:latin typeface="Pretendard SemiBold"/>
                <a:ea typeface="Pretendard SemiBold"/>
                <a:cs typeface="Pretendard SemiBold"/>
              </a:rPr>
              <a:t>상세설명</a:t>
            </a:r>
          </a:p>
        </p:txBody>
      </p:sp>
      <p:sp>
        <p:nvSpPr>
          <p:cNvPr id="15" name="여행 장소와 순서를 지도에서 확인하고 상세 길찾기로 연결합니다.">
            <a:extLst xmlns:a="http://schemas.openxmlformats.org/drawingml/2006/main">
              <a:ext uri="{FF2B5EF4-FFF2-40B4-BE49-F238E27FC236}">
                <a16:creationId xmlns:a16="http://schemas.microsoft.com/office/drawing/2014/main" id="{E3B8E23F-21F5-4215-9FED-59F236FF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71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여행 장소와 순서를 지도에서 확인하고</a:t>
            </a:r>
          </a:p>
          <a:p xmlns:a="http://schemas.openxmlformats.org/drawingml/2006/main">
            <a:pPr algn="l">
              <a:defRPr sz="165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상세 길찾기로 연결합니다.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bb006424b4cb4"/>
          <a:srcRect xmlns:a="http://schemas.openxmlformats.org/drawingml/2006/main" l="4100" t="27200" r="4100" b="61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414253"/>
            <a:ext cx="3438525" cy="925093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738f52fa64089"/>
          <a:srcRect xmlns:a="http://schemas.openxmlformats.org/drawingml/2006/main" l="4100" t="49600" r="4100" b="391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5453028"/>
            <a:ext cx="3438525" cy="885894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b7f32e00b4bfc"/>
          <a:srcRect xmlns:a="http://schemas.openxmlformats.org/drawingml/2006/main" l="4700" t="61700" r="4700" b="18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5300" y="4572953"/>
            <a:ext cx="3476625" cy="1598294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506ad91254f7e"/>
          <a:srcRect xmlns:a="http://schemas.openxmlformats.org/drawingml/2006/main" l="2000" t="58500" r="2000" b="78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5637" y="4371975"/>
            <a:ext cx="2748325" cy="2019300"/>
          </a:xfrm>
          <a:prstGeom xmlns:a="http://schemas.openxmlformats.org/drawingml/2006/main" prst="rect">
            <a:avLst/>
          </a:prstGeom>
        </p:spPr>
      </p:pic>
      <p:sp>
        <p:nvSpPr>
          <p:cNvPr id="20" name="15">
            <a:extLst xmlns:a="http://schemas.openxmlformats.org/drawingml/2006/main">
              <a:ext uri="{FF2B5EF4-FFF2-40B4-BE49-F238E27FC236}">
                <a16:creationId xmlns:a16="http://schemas.microsoft.com/office/drawing/2014/main" id="{3C87BA72-DAC1-4860-8560-D387799B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629400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17735648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차별성">
            <a:extLst xmlns:a="http://schemas.openxmlformats.org/drawingml/2006/main">
              <a:ext uri="{FF2B5EF4-FFF2-40B4-BE49-F238E27FC236}">
                <a16:creationId xmlns:a16="http://schemas.microsoft.com/office/drawing/2014/main" id="{57351C8B-93E8-408A-9CB1-E1D93278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90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차별성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8A1FFE72-CD4D-487F-816C-7F032C2B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716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D77B3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175">
                <a:solidFill>
                  <a:srgbClr val="D77B39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3" name="공동 일정과 개인 기준의 분리">
            <a:extLst xmlns:a="http://schemas.openxmlformats.org/drawingml/2006/main">
              <a:ext uri="{FF2B5EF4-FFF2-40B4-BE49-F238E27FC236}">
                <a16:creationId xmlns:a16="http://schemas.microsoft.com/office/drawing/2014/main" id="{6F065842-5718-49E9-A1DE-FC749B05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24100"/>
            <a:ext cx="3571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95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공동 일정과 개인 기준의 분리</a:t>
            </a:r>
          </a:p>
        </p:txBody>
      </p:sp>
      <p:sp>
        <p:nvSpPr>
          <p:cNvPr id="4" name="함께 장소를 정하고, 복귀 시각은 개인 사본에서 관리합니다.">
            <a:extLst xmlns:a="http://schemas.openxmlformats.org/drawingml/2006/main">
              <a:ext uri="{FF2B5EF4-FFF2-40B4-BE49-F238E27FC236}">
                <a16:creationId xmlns:a16="http://schemas.microsoft.com/office/drawing/2014/main" id="{7E166482-733B-47F0-AB0E-57C8E333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90825"/>
            <a:ext cx="3571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함께 장소를 정하고, 복귀 시각은</a:t>
            </a:r>
          </a:p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개인 사본에서 관리합니다.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3CDBC1E4-AB21-463B-8D71-6BD787DF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716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D77B3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175">
                <a:solidFill>
                  <a:srgbClr val="D77B39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6" name="조정 가능한 복귀 여유">
            <a:extLst xmlns:a="http://schemas.openxmlformats.org/drawingml/2006/main">
              <a:ext uri="{FF2B5EF4-FFF2-40B4-BE49-F238E27FC236}">
                <a16:creationId xmlns:a16="http://schemas.microsoft.com/office/drawing/2014/main" id="{61CAF3A5-E1D1-46E5-89E7-B75AD873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24100"/>
            <a:ext cx="3571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95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조정 가능한 복귀 여유</a:t>
            </a:r>
          </a:p>
        </p:txBody>
      </p:sp>
      <p:sp>
        <p:nvSpPr>
          <p:cNvPr id="7" name="관광지를 생략하거나 체류를 줄여 여유와 도보량을 비교합니다.">
            <a:extLst xmlns:a="http://schemas.openxmlformats.org/drawingml/2006/main">
              <a:ext uri="{FF2B5EF4-FFF2-40B4-BE49-F238E27FC236}">
                <a16:creationId xmlns:a16="http://schemas.microsoft.com/office/drawing/2014/main" id="{1CC5D5F4-F78D-4FF0-9928-AFE374EF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90825"/>
            <a:ext cx="3571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관광지를 생략하거나 체류를 줄여</a:t>
            </a:r>
          </a:p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여유와 도보량을 비교합니다.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AF2F53B6-FDA6-45CA-B498-23515339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716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D77B3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175">
                <a:solidFill>
                  <a:srgbClr val="D77B39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9" name="추천을 일정 변경으로 연결">
            <a:extLst xmlns:a="http://schemas.openxmlformats.org/drawingml/2006/main">
              <a:ext uri="{FF2B5EF4-FFF2-40B4-BE49-F238E27FC236}">
                <a16:creationId xmlns:a16="http://schemas.microsoft.com/office/drawing/2014/main" id="{FB4E12C6-0EE0-4293-BEAA-290ED10C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3571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950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추천을 일정 변경으로 연결</a:t>
            </a:r>
          </a:p>
        </p:txBody>
      </p:sp>
      <p:sp>
        <p:nvSpPr>
          <p:cNvPr id="10" name="장소 제안을 검토·저장한 뒤 반영 결과를 제안자에게 보여줍니다.">
            <a:extLst xmlns:a="http://schemas.openxmlformats.org/drawingml/2006/main">
              <a:ext uri="{FF2B5EF4-FFF2-40B4-BE49-F238E27FC236}">
                <a16:creationId xmlns:a16="http://schemas.microsoft.com/office/drawing/2014/main" id="{7211F353-199A-4543-AB49-34E02F0D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90825"/>
            <a:ext cx="3571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장소 제안을 검토·저장한 뒤</a:t>
            </a:r>
          </a:p>
          <a:p xmlns:a="http://schemas.openxmlformats.org/drawingml/2006/main">
            <a:pPr algn="l">
              <a:defRPr sz="1725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725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반영 결과를 제안자에게 보여줍니다.</a:t>
            </a:r>
          </a:p>
        </p:txBody>
      </p:sp>
      <p:sp>
        <p:nvSpPr>
          <p:cNvPr id="11" name="section divider">
            <a:extLst xmlns:a="http://schemas.openxmlformats.org/drawingml/2006/main">
              <a:ext uri="{FF2B5EF4-FFF2-40B4-BE49-F238E27FC236}">
                <a16:creationId xmlns:a16="http://schemas.microsoft.com/office/drawing/2014/main" id="{60150E58-99F7-478E-8E8D-A1FF8FB0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90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1"/>
            </a:solidFill>
          </a:ln>
        </p:spPr>
      </p:sp>
      <p:sp>
        <p:nvSpPr>
          <p:cNvPr id="12" name="발전계획">
            <a:extLst xmlns:a="http://schemas.openxmlformats.org/drawingml/2006/main">
              <a:ext uri="{FF2B5EF4-FFF2-40B4-BE49-F238E27FC236}">
                <a16:creationId xmlns:a16="http://schemas.microsoft.com/office/drawing/2014/main" id="{C66A6F4A-E860-466C-B198-D930C9B1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243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발전계획</a:t>
            </a:r>
          </a:p>
        </p:txBody>
      </p:sp>
      <p:sp>
        <p:nvSpPr>
          <p:cNvPr id="13" name="01">
            <a:extLst xmlns:a="http://schemas.openxmlformats.org/drawingml/2006/main">
              <a:ext uri="{FF2B5EF4-FFF2-40B4-BE49-F238E27FC236}">
                <a16:creationId xmlns:a16="http://schemas.microsoft.com/office/drawing/2014/main" id="{9331B96B-4CD1-4570-B56D-FD063D6B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D77B3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>
                <a:solidFill>
                  <a:srgbClr val="D77B39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14" name="사용성 검증">
            <a:extLst xmlns:a="http://schemas.openxmlformats.org/drawingml/2006/main">
              <a:ext uri="{FF2B5EF4-FFF2-40B4-BE49-F238E27FC236}">
                <a16:creationId xmlns:a16="http://schemas.microsoft.com/office/drawing/2014/main" id="{7207CA79-009D-4CF3-B19B-CD6D0E24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0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사용성 검증</a:t>
            </a:r>
          </a:p>
        </p:txBody>
      </p:sp>
      <p:sp>
        <p:nvSpPr>
          <p:cNvPr id="15" name="→">
            <a:extLst xmlns:a="http://schemas.openxmlformats.org/drawingml/2006/main">
              <a:ext uri="{FF2B5EF4-FFF2-40B4-BE49-F238E27FC236}">
                <a16:creationId xmlns:a16="http://schemas.microsoft.com/office/drawing/2014/main" id="{A10426B3-10F3-4BCA-9808-534DE4B0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7529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2175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6" name="장병·동행자의 계획·초대·조정 관찰">
            <a:extLst xmlns:a="http://schemas.openxmlformats.org/drawingml/2006/main">
              <a:ext uri="{FF2B5EF4-FFF2-40B4-BE49-F238E27FC236}">
                <a16:creationId xmlns:a16="http://schemas.microsoft.com/office/drawing/2014/main" id="{25A27D10-C583-4F45-A755-23E23047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05425"/>
            <a:ext cx="357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장병·동행자의 계획·초대·조정 관찰</a:t>
            </a:r>
          </a:p>
        </p:txBody>
      </p:sp>
      <p:sp>
        <p:nvSpPr>
          <p:cNvPr id="17" name="확인 지표  공동 계획 완료율">
            <a:extLst xmlns:a="http://schemas.openxmlformats.org/drawingml/2006/main">
              <a:ext uri="{FF2B5EF4-FFF2-40B4-BE49-F238E27FC236}">
                <a16:creationId xmlns:a16="http://schemas.microsoft.com/office/drawing/2014/main" id="{0E2A07E7-626E-442F-A964-9CD9CBA2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34100"/>
            <a:ext cx="3571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확인 지표  공동 계획 완료율</a:t>
            </a:r>
          </a:p>
        </p:txBody>
      </p:sp>
      <p:sp>
        <p:nvSpPr>
          <p:cNvPr id="18" name="02">
            <a:extLst xmlns:a="http://schemas.openxmlformats.org/drawingml/2006/main">
              <a:ext uri="{FF2B5EF4-FFF2-40B4-BE49-F238E27FC236}">
                <a16:creationId xmlns:a16="http://schemas.microsoft.com/office/drawing/2014/main" id="{F63CD39B-9D04-40D7-BD20-6547B381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625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D77B3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>
                <a:solidFill>
                  <a:srgbClr val="D77B39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19" name="강원 정보 고도화">
            <a:extLst xmlns:a="http://schemas.openxmlformats.org/drawingml/2006/main">
              <a:ext uri="{FF2B5EF4-FFF2-40B4-BE49-F238E27FC236}">
                <a16:creationId xmlns:a16="http://schemas.microsoft.com/office/drawing/2014/main" id="{63295870-3EAC-4792-B460-CE5A4BDC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244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0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강원 정보 고도화</a:t>
            </a:r>
          </a:p>
        </p:txBody>
      </p:sp>
      <p:sp>
        <p:nvSpPr>
          <p:cNvPr id="20" name="→">
            <a:extLst xmlns:a="http://schemas.openxmlformats.org/drawingml/2006/main">
              <a:ext uri="{FF2B5EF4-FFF2-40B4-BE49-F238E27FC236}">
                <a16:creationId xmlns:a16="http://schemas.microsoft.com/office/drawing/2014/main" id="{88DB68B8-E7C5-4BA0-9ADB-FD4BF794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7529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2175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1" name="접경 5군 운영·예약·편의정보 갱신">
            <a:extLst xmlns:a="http://schemas.openxmlformats.org/drawingml/2006/main">
              <a:ext uri="{FF2B5EF4-FFF2-40B4-BE49-F238E27FC236}">
                <a16:creationId xmlns:a16="http://schemas.microsoft.com/office/drawing/2014/main" id="{547EED00-F2AD-4A39-8242-2603B241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05425"/>
            <a:ext cx="357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접경 5군 운영·예약·편의정보 갱신</a:t>
            </a:r>
          </a:p>
        </p:txBody>
      </p:sp>
      <p:sp>
        <p:nvSpPr>
          <p:cNvPr id="22" name="확인 지표  정보 확인율·API 성공률">
            <a:extLst xmlns:a="http://schemas.openxmlformats.org/drawingml/2006/main">
              <a:ext uri="{FF2B5EF4-FFF2-40B4-BE49-F238E27FC236}">
                <a16:creationId xmlns:a16="http://schemas.microsoft.com/office/drawing/2014/main" id="{5AA485B2-1254-4243-8EC6-485F69C1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134100"/>
            <a:ext cx="3571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확인 지표  정보 확인율·API 성공률</a:t>
            </a:r>
          </a:p>
        </p:txBody>
      </p:sp>
      <p:sp>
        <p:nvSpPr>
          <p:cNvPr id="23" name="03">
            <a:extLst xmlns:a="http://schemas.openxmlformats.org/drawingml/2006/main">
              <a:ext uri="{FF2B5EF4-FFF2-40B4-BE49-F238E27FC236}">
                <a16:creationId xmlns:a16="http://schemas.microsoft.com/office/drawing/2014/main" id="{7073D053-2357-4C43-AAC3-1F6FA91E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625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D77B39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725">
                <a:solidFill>
                  <a:srgbClr val="D77B39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24" name="지역 실증·재방문">
            <a:extLst xmlns:a="http://schemas.openxmlformats.org/drawingml/2006/main">
              <a:ext uri="{FF2B5EF4-FFF2-40B4-BE49-F238E27FC236}">
                <a16:creationId xmlns:a16="http://schemas.microsoft.com/office/drawing/2014/main" id="{05C80541-386F-41DA-94D3-7570DC40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244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2025">
                <a:solidFill>
                  <a:srgbClr val="22383E"/>
                </a:solidFill>
                <a:latin typeface="Pretendard SemiBold"/>
                <a:ea typeface="Pretendard SemiBold"/>
                <a:cs typeface="Pretendard SemiBold"/>
              </a:rPr>
              <a:t>지역 실증·재방문</a:t>
            </a:r>
          </a:p>
        </p:txBody>
      </p:sp>
      <p:sp>
        <p:nvSpPr>
          <p:cNvPr id="25" name="관광지·식사·휴식 장소의 연계 평가">
            <a:extLst xmlns:a="http://schemas.openxmlformats.org/drawingml/2006/main">
              <a:ext uri="{FF2B5EF4-FFF2-40B4-BE49-F238E27FC236}">
                <a16:creationId xmlns:a16="http://schemas.microsoft.com/office/drawing/2014/main" id="{11C52D4F-627A-481E-9307-414680A9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05425"/>
            <a:ext cx="357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2383E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22383E"/>
                </a:solidFill>
                <a:latin typeface="Pretendard"/>
                <a:ea typeface="Pretendard"/>
                <a:cs typeface="Pretendard"/>
              </a:rPr>
              <a:t>관광지·식사·휴식 장소의 연계 평가</a:t>
            </a:r>
          </a:p>
        </p:txBody>
      </p:sp>
      <p:sp>
        <p:nvSpPr>
          <p:cNvPr id="26" name="확인 지표  제안 반영률·재사용률">
            <a:extLst xmlns:a="http://schemas.openxmlformats.org/drawingml/2006/main">
              <a:ext uri="{FF2B5EF4-FFF2-40B4-BE49-F238E27FC236}">
                <a16:creationId xmlns:a16="http://schemas.microsoft.com/office/drawing/2014/main" id="{1EC57620-CFE4-41EA-A6C5-12C508D3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134100"/>
            <a:ext cx="3571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defRPr>
            </a:pPr>
            <a:r>
              <a:rPr sz="1425">
                <a:solidFill>
                  <a:srgbClr val="246568"/>
                </a:solidFill>
                <a:latin typeface="Pretendard SemiBold"/>
                <a:ea typeface="Pretendard SemiBold"/>
                <a:cs typeface="Pretendard SemiBold"/>
              </a:rPr>
              <a:t>확인 지표  제안 반영률·재사용률</a:t>
            </a:r>
          </a:p>
        </p:txBody>
      </p:sp>
      <p:sp>
        <p:nvSpPr>
          <p:cNvPr id="27" name="16">
            <a:extLst xmlns:a="http://schemas.openxmlformats.org/drawingml/2006/main">
              <a:ext uri="{FF2B5EF4-FFF2-40B4-BE49-F238E27FC236}">
                <a16:creationId xmlns:a16="http://schemas.microsoft.com/office/drawing/2014/main" id="{DCD360C2-DDAC-410E-915B-90842A21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629400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579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47579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988568962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2026-09-16T04:28:56.0930000Z</dcterms:created>
  <dcterms:modified xsi:type="dcterms:W3CDTF">2026-09-16T04:28:56.0930000Z</dcterms:modified>
</coreProperties>
</file>